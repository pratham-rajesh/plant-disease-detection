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Bitter" pitchFamily="2" charset="77"/>
      <p:regular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10"/>
  </p:normalViewPr>
  <p:slideViewPr>
    <p:cSldViewPr snapToGrid="0" snapToObjects="1">
      <p:cViewPr varScale="1">
        <p:scale>
          <a:sx n="80" d="100"/>
          <a:sy n="80" d="100"/>
        </p:scale>
        <p:origin x="656"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869400"/>
            <a:ext cx="6792397"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AI-Powered Plant Disease</a:t>
            </a:r>
            <a:endParaRPr lang="en-US" sz="4450" dirty="0"/>
          </a:p>
        </p:txBody>
      </p:sp>
      <p:sp>
        <p:nvSpPr>
          <p:cNvPr id="3" name="Text 1"/>
          <p:cNvSpPr/>
          <p:nvPr/>
        </p:nvSpPr>
        <p:spPr>
          <a:xfrm>
            <a:off x="793790" y="2668905"/>
            <a:ext cx="3978593" cy="425291"/>
          </a:xfrm>
          <a:prstGeom prst="rect">
            <a:avLst/>
          </a:prstGeom>
          <a:noFill/>
          <a:ln/>
        </p:spPr>
        <p:txBody>
          <a:bodyPr wrap="none" lIns="0" tIns="0" rIns="0" bIns="0" rtlCol="0" anchor="t"/>
          <a:lstStyle/>
          <a:p>
            <a:pPr marL="0" indent="0" algn="l">
              <a:lnSpc>
                <a:spcPts val="3300"/>
              </a:lnSpc>
              <a:buNone/>
            </a:pPr>
            <a:r>
              <a:rPr lang="en-US" sz="2650" b="1" dirty="0">
                <a:solidFill>
                  <a:srgbClr val="E1E5CD"/>
                </a:solidFill>
                <a:latin typeface="Outfit Bold" pitchFamily="34" charset="0"/>
                <a:ea typeface="Outfit Bold" pitchFamily="34" charset="-122"/>
                <a:cs typeface="Outfit Bold" pitchFamily="34" charset="-120"/>
              </a:rPr>
              <a:t>Detection &amp; Management</a:t>
            </a:r>
            <a:endParaRPr lang="en-US" sz="2650" dirty="0"/>
          </a:p>
        </p:txBody>
      </p:sp>
      <p:sp>
        <p:nvSpPr>
          <p:cNvPr id="4" name="Text 2"/>
          <p:cNvSpPr/>
          <p:nvPr/>
        </p:nvSpPr>
        <p:spPr>
          <a:xfrm>
            <a:off x="793790" y="3434358"/>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C2C4B5"/>
                </a:solidFill>
                <a:latin typeface="Bitter" pitchFamily="34" charset="0"/>
                <a:ea typeface="Bitter" pitchFamily="34" charset="-122"/>
                <a:cs typeface="Bitter" pitchFamily="34" charset="-120"/>
              </a:rPr>
              <a:t>A CRISP-DM Data Mining Project</a:t>
            </a:r>
            <a:endParaRPr lang="en-US" sz="2200" dirty="0"/>
          </a:p>
        </p:txBody>
      </p:sp>
      <p:sp>
        <p:nvSpPr>
          <p:cNvPr id="5" name="Text 3"/>
          <p:cNvSpPr/>
          <p:nvPr/>
        </p:nvSpPr>
        <p:spPr>
          <a:xfrm>
            <a:off x="793790" y="414301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[Team Member Names]</a:t>
            </a:r>
            <a:endParaRPr lang="en-US" sz="1750" dirty="0"/>
          </a:p>
        </p:txBody>
      </p:sp>
      <p:sp>
        <p:nvSpPr>
          <p:cNvPr id="6" name="Text 4"/>
          <p:cNvSpPr/>
          <p:nvPr/>
        </p:nvSpPr>
        <p:spPr>
          <a:xfrm>
            <a:off x="793790" y="476107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MS Software Engineering - Data Mining</a:t>
            </a:r>
            <a:endParaRPr lang="en-US" sz="1750" dirty="0"/>
          </a:p>
        </p:txBody>
      </p:sp>
      <p:sp>
        <p:nvSpPr>
          <p:cNvPr id="7" name="Text 5"/>
          <p:cNvSpPr/>
          <p:nvPr/>
        </p:nvSpPr>
        <p:spPr>
          <a:xfrm>
            <a:off x="793790" y="537912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San Jose State University</a:t>
            </a:r>
            <a:endParaRPr lang="en-US" sz="1750" dirty="0"/>
          </a:p>
        </p:txBody>
      </p:sp>
      <p:sp>
        <p:nvSpPr>
          <p:cNvPr id="8" name="Text 6"/>
          <p:cNvSpPr/>
          <p:nvPr/>
        </p:nvSpPr>
        <p:spPr>
          <a:xfrm>
            <a:off x="793790" y="599717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December 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34973"/>
            <a:ext cx="9397603" cy="531614"/>
          </a:xfrm>
          <a:prstGeom prst="rect">
            <a:avLst/>
          </a:prstGeom>
          <a:noFill/>
          <a:ln/>
        </p:spPr>
        <p:txBody>
          <a:bodyPr wrap="none" lIns="0" tIns="0" rIns="0" bIns="0" rtlCol="0" anchor="t"/>
          <a:lstStyle/>
          <a:p>
            <a:pPr marL="0" indent="0" algn="l">
              <a:lnSpc>
                <a:spcPts val="4150"/>
              </a:lnSpc>
              <a:buNone/>
            </a:pPr>
            <a:r>
              <a:rPr lang="en-US" sz="3300" b="1" dirty="0">
                <a:solidFill>
                  <a:srgbClr val="E1E5CD"/>
                </a:solidFill>
                <a:latin typeface="Outfit Bold" pitchFamily="34" charset="0"/>
                <a:ea typeface="Outfit Bold" pitchFamily="34" charset="-122"/>
                <a:cs typeface="Outfit Bold" pitchFamily="34" charset="-120"/>
              </a:rPr>
              <a:t>CRISP-DM Methodology: A Structured Approach</a:t>
            </a:r>
            <a:endParaRPr lang="en-US" sz="3300" dirty="0"/>
          </a:p>
        </p:txBody>
      </p:sp>
      <p:sp>
        <p:nvSpPr>
          <p:cNvPr id="3" name="Text 1"/>
          <p:cNvSpPr/>
          <p:nvPr/>
        </p:nvSpPr>
        <p:spPr>
          <a:xfrm>
            <a:off x="793790" y="1606748"/>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Our project followed the Cross-Industry Standard Process for Data Mining (CRISP-DM) to ensure a systematic and robust approach to problem-solving and model development.</a:t>
            </a:r>
            <a:endParaRPr lang="en-US" sz="1300" dirty="0"/>
          </a:p>
        </p:txBody>
      </p:sp>
      <p:sp>
        <p:nvSpPr>
          <p:cNvPr id="4" name="Shape 2"/>
          <p:cNvSpPr/>
          <p:nvPr/>
        </p:nvSpPr>
        <p:spPr>
          <a:xfrm>
            <a:off x="793790" y="2597587"/>
            <a:ext cx="6436400" cy="1258133"/>
          </a:xfrm>
          <a:prstGeom prst="roundRect">
            <a:avLst>
              <a:gd name="adj" fmla="val 8721"/>
            </a:avLst>
          </a:prstGeom>
          <a:solidFill>
            <a:srgbClr val="1C1D1F"/>
          </a:solidFill>
          <a:ln/>
        </p:spPr>
      </p:sp>
      <p:sp>
        <p:nvSpPr>
          <p:cNvPr id="5" name="Shape 3"/>
          <p:cNvSpPr/>
          <p:nvPr/>
        </p:nvSpPr>
        <p:spPr>
          <a:xfrm>
            <a:off x="793790" y="2574727"/>
            <a:ext cx="6436400" cy="91440"/>
          </a:xfrm>
          <a:prstGeom prst="roundRect">
            <a:avLst>
              <a:gd name="adj" fmla="val 27907"/>
            </a:avLst>
          </a:prstGeom>
          <a:solidFill>
            <a:srgbClr val="9FA582"/>
          </a:solidFill>
          <a:ln/>
        </p:spPr>
      </p:sp>
      <p:sp>
        <p:nvSpPr>
          <p:cNvPr id="6" name="Shape 4"/>
          <p:cNvSpPr/>
          <p:nvPr/>
        </p:nvSpPr>
        <p:spPr>
          <a:xfrm>
            <a:off x="3756779" y="2342436"/>
            <a:ext cx="510302" cy="510302"/>
          </a:xfrm>
          <a:prstGeom prst="roundRect">
            <a:avLst>
              <a:gd name="adj" fmla="val 179188"/>
            </a:avLst>
          </a:prstGeom>
          <a:solidFill>
            <a:srgbClr val="9FA582"/>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09893" y="2495431"/>
            <a:ext cx="204073" cy="204073"/>
          </a:xfrm>
          <a:prstGeom prst="rect">
            <a:avLst/>
          </a:prstGeom>
        </p:spPr>
      </p:pic>
      <p:sp>
        <p:nvSpPr>
          <p:cNvPr id="8" name="Text 5"/>
          <p:cNvSpPr/>
          <p:nvPr/>
        </p:nvSpPr>
        <p:spPr>
          <a:xfrm>
            <a:off x="986671" y="3022878"/>
            <a:ext cx="2334458"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Business Understanding</a:t>
            </a:r>
            <a:endParaRPr lang="en-US" sz="1650" dirty="0"/>
          </a:p>
        </p:txBody>
      </p:sp>
      <p:sp>
        <p:nvSpPr>
          <p:cNvPr id="9" name="Text 6"/>
          <p:cNvSpPr/>
          <p:nvPr/>
        </p:nvSpPr>
        <p:spPr>
          <a:xfrm>
            <a:off x="986671" y="3390662"/>
            <a:ext cx="605063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Defining the agricultural problem and key performance indicators (KPIs).</a:t>
            </a:r>
            <a:endParaRPr lang="en-US" sz="1300" dirty="0"/>
          </a:p>
        </p:txBody>
      </p:sp>
      <p:sp>
        <p:nvSpPr>
          <p:cNvPr id="10" name="Shape 7"/>
          <p:cNvSpPr/>
          <p:nvPr/>
        </p:nvSpPr>
        <p:spPr>
          <a:xfrm>
            <a:off x="7400211" y="2597587"/>
            <a:ext cx="6436400" cy="1258133"/>
          </a:xfrm>
          <a:prstGeom prst="roundRect">
            <a:avLst>
              <a:gd name="adj" fmla="val 8721"/>
            </a:avLst>
          </a:prstGeom>
          <a:solidFill>
            <a:srgbClr val="1C1D1F"/>
          </a:solidFill>
          <a:ln/>
        </p:spPr>
      </p:sp>
      <p:sp>
        <p:nvSpPr>
          <p:cNvPr id="11" name="Shape 8"/>
          <p:cNvSpPr/>
          <p:nvPr/>
        </p:nvSpPr>
        <p:spPr>
          <a:xfrm>
            <a:off x="7400211" y="2574727"/>
            <a:ext cx="6436400" cy="91440"/>
          </a:xfrm>
          <a:prstGeom prst="roundRect">
            <a:avLst>
              <a:gd name="adj" fmla="val 27907"/>
            </a:avLst>
          </a:prstGeom>
          <a:solidFill>
            <a:srgbClr val="9FA582"/>
          </a:solidFill>
          <a:ln/>
        </p:spPr>
      </p:sp>
      <p:sp>
        <p:nvSpPr>
          <p:cNvPr id="12" name="Shape 9"/>
          <p:cNvSpPr/>
          <p:nvPr/>
        </p:nvSpPr>
        <p:spPr>
          <a:xfrm>
            <a:off x="10363200" y="2342436"/>
            <a:ext cx="510302" cy="510302"/>
          </a:xfrm>
          <a:prstGeom prst="roundRect">
            <a:avLst>
              <a:gd name="adj" fmla="val 179188"/>
            </a:avLst>
          </a:prstGeom>
          <a:solidFill>
            <a:srgbClr val="9FA582"/>
          </a:solidFill>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16314" y="2495431"/>
            <a:ext cx="204073" cy="204073"/>
          </a:xfrm>
          <a:prstGeom prst="rect">
            <a:avLst/>
          </a:prstGeom>
        </p:spPr>
      </p:pic>
      <p:sp>
        <p:nvSpPr>
          <p:cNvPr id="14" name="Text 10"/>
          <p:cNvSpPr/>
          <p:nvPr/>
        </p:nvSpPr>
        <p:spPr>
          <a:xfrm>
            <a:off x="7593092" y="3022878"/>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Data Understanding</a:t>
            </a:r>
            <a:endParaRPr lang="en-US" sz="1650" dirty="0"/>
          </a:p>
        </p:txBody>
      </p:sp>
      <p:sp>
        <p:nvSpPr>
          <p:cNvPr id="15" name="Text 11"/>
          <p:cNvSpPr/>
          <p:nvPr/>
        </p:nvSpPr>
        <p:spPr>
          <a:xfrm>
            <a:off x="7593092" y="3390662"/>
            <a:ext cx="605063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Analyzing the PlantVillage dataset for insights and challenges.</a:t>
            </a:r>
            <a:endParaRPr lang="en-US" sz="1300" dirty="0"/>
          </a:p>
        </p:txBody>
      </p:sp>
      <p:sp>
        <p:nvSpPr>
          <p:cNvPr id="16" name="Shape 12"/>
          <p:cNvSpPr/>
          <p:nvPr/>
        </p:nvSpPr>
        <p:spPr>
          <a:xfrm>
            <a:off x="793790" y="4280892"/>
            <a:ext cx="6436400" cy="1258133"/>
          </a:xfrm>
          <a:prstGeom prst="roundRect">
            <a:avLst>
              <a:gd name="adj" fmla="val 8721"/>
            </a:avLst>
          </a:prstGeom>
          <a:solidFill>
            <a:srgbClr val="1C1D1F"/>
          </a:solidFill>
          <a:ln/>
        </p:spPr>
      </p:sp>
      <p:sp>
        <p:nvSpPr>
          <p:cNvPr id="17" name="Shape 13"/>
          <p:cNvSpPr/>
          <p:nvPr/>
        </p:nvSpPr>
        <p:spPr>
          <a:xfrm>
            <a:off x="793790" y="4258032"/>
            <a:ext cx="6436400" cy="91440"/>
          </a:xfrm>
          <a:prstGeom prst="roundRect">
            <a:avLst>
              <a:gd name="adj" fmla="val 27907"/>
            </a:avLst>
          </a:prstGeom>
          <a:solidFill>
            <a:srgbClr val="9FA582"/>
          </a:solidFill>
          <a:ln/>
        </p:spPr>
      </p:sp>
      <p:sp>
        <p:nvSpPr>
          <p:cNvPr id="18" name="Shape 14"/>
          <p:cNvSpPr/>
          <p:nvPr/>
        </p:nvSpPr>
        <p:spPr>
          <a:xfrm>
            <a:off x="3756779" y="4025741"/>
            <a:ext cx="510302" cy="510302"/>
          </a:xfrm>
          <a:prstGeom prst="roundRect">
            <a:avLst>
              <a:gd name="adj" fmla="val 179188"/>
            </a:avLst>
          </a:prstGeom>
          <a:solidFill>
            <a:srgbClr val="9FA582"/>
          </a:solidFill>
          <a:ln/>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09893" y="4178737"/>
            <a:ext cx="204073" cy="204073"/>
          </a:xfrm>
          <a:prstGeom prst="rect">
            <a:avLst/>
          </a:prstGeom>
        </p:spPr>
      </p:pic>
      <p:sp>
        <p:nvSpPr>
          <p:cNvPr id="20" name="Text 15"/>
          <p:cNvSpPr/>
          <p:nvPr/>
        </p:nvSpPr>
        <p:spPr>
          <a:xfrm>
            <a:off x="986671" y="470618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Data Preparation</a:t>
            </a:r>
            <a:endParaRPr lang="en-US" sz="1650" dirty="0"/>
          </a:p>
        </p:txBody>
      </p:sp>
      <p:sp>
        <p:nvSpPr>
          <p:cNvPr id="21" name="Text 16"/>
          <p:cNvSpPr/>
          <p:nvPr/>
        </p:nvSpPr>
        <p:spPr>
          <a:xfrm>
            <a:off x="986671" y="5073968"/>
            <a:ext cx="605063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Implementing a heavy augmentation strategy to enhance data quality.</a:t>
            </a:r>
            <a:endParaRPr lang="en-US" sz="1300" dirty="0"/>
          </a:p>
        </p:txBody>
      </p:sp>
      <p:sp>
        <p:nvSpPr>
          <p:cNvPr id="22" name="Shape 17"/>
          <p:cNvSpPr/>
          <p:nvPr/>
        </p:nvSpPr>
        <p:spPr>
          <a:xfrm>
            <a:off x="7400211" y="4280892"/>
            <a:ext cx="6436400" cy="1258133"/>
          </a:xfrm>
          <a:prstGeom prst="roundRect">
            <a:avLst>
              <a:gd name="adj" fmla="val 8721"/>
            </a:avLst>
          </a:prstGeom>
          <a:solidFill>
            <a:srgbClr val="1C1D1F"/>
          </a:solidFill>
          <a:ln/>
        </p:spPr>
      </p:sp>
      <p:sp>
        <p:nvSpPr>
          <p:cNvPr id="23" name="Shape 18"/>
          <p:cNvSpPr/>
          <p:nvPr/>
        </p:nvSpPr>
        <p:spPr>
          <a:xfrm>
            <a:off x="7400211" y="4258032"/>
            <a:ext cx="6436400" cy="91440"/>
          </a:xfrm>
          <a:prstGeom prst="roundRect">
            <a:avLst>
              <a:gd name="adj" fmla="val 27907"/>
            </a:avLst>
          </a:prstGeom>
          <a:solidFill>
            <a:srgbClr val="9FA582"/>
          </a:solidFill>
          <a:ln/>
        </p:spPr>
      </p:sp>
      <p:sp>
        <p:nvSpPr>
          <p:cNvPr id="24" name="Shape 19"/>
          <p:cNvSpPr/>
          <p:nvPr/>
        </p:nvSpPr>
        <p:spPr>
          <a:xfrm>
            <a:off x="10363200" y="4025741"/>
            <a:ext cx="510302" cy="510302"/>
          </a:xfrm>
          <a:prstGeom prst="roundRect">
            <a:avLst>
              <a:gd name="adj" fmla="val 179188"/>
            </a:avLst>
          </a:prstGeom>
          <a:solidFill>
            <a:srgbClr val="9FA582"/>
          </a:solidFill>
          <a:ln/>
        </p:spPr>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16314" y="4178737"/>
            <a:ext cx="204073" cy="204073"/>
          </a:xfrm>
          <a:prstGeom prst="rect">
            <a:avLst/>
          </a:prstGeom>
        </p:spPr>
      </p:pic>
      <p:sp>
        <p:nvSpPr>
          <p:cNvPr id="26" name="Text 20"/>
          <p:cNvSpPr/>
          <p:nvPr/>
        </p:nvSpPr>
        <p:spPr>
          <a:xfrm>
            <a:off x="7593092" y="470618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Modeling</a:t>
            </a:r>
            <a:endParaRPr lang="en-US" sz="1650" dirty="0"/>
          </a:p>
        </p:txBody>
      </p:sp>
      <p:sp>
        <p:nvSpPr>
          <p:cNvPr id="27" name="Text 21"/>
          <p:cNvSpPr/>
          <p:nvPr/>
        </p:nvSpPr>
        <p:spPr>
          <a:xfrm>
            <a:off x="7593092" y="5073968"/>
            <a:ext cx="605063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Utilizing MobileNetV2 with transfer learning for efficient model training.</a:t>
            </a:r>
            <a:endParaRPr lang="en-US" sz="1300" dirty="0"/>
          </a:p>
        </p:txBody>
      </p:sp>
      <p:sp>
        <p:nvSpPr>
          <p:cNvPr id="28" name="Shape 22"/>
          <p:cNvSpPr/>
          <p:nvPr/>
        </p:nvSpPr>
        <p:spPr>
          <a:xfrm>
            <a:off x="793790" y="5964198"/>
            <a:ext cx="6436400" cy="1530310"/>
          </a:xfrm>
          <a:prstGeom prst="roundRect">
            <a:avLst>
              <a:gd name="adj" fmla="val 7170"/>
            </a:avLst>
          </a:prstGeom>
          <a:solidFill>
            <a:srgbClr val="1C1D1F"/>
          </a:solidFill>
          <a:ln/>
        </p:spPr>
      </p:sp>
      <p:sp>
        <p:nvSpPr>
          <p:cNvPr id="29" name="Shape 23"/>
          <p:cNvSpPr/>
          <p:nvPr/>
        </p:nvSpPr>
        <p:spPr>
          <a:xfrm>
            <a:off x="793790" y="5941338"/>
            <a:ext cx="6436400" cy="91440"/>
          </a:xfrm>
          <a:prstGeom prst="roundRect">
            <a:avLst>
              <a:gd name="adj" fmla="val 27907"/>
            </a:avLst>
          </a:prstGeom>
          <a:solidFill>
            <a:srgbClr val="9FA582"/>
          </a:solidFill>
          <a:ln/>
        </p:spPr>
      </p:sp>
      <p:sp>
        <p:nvSpPr>
          <p:cNvPr id="30" name="Shape 24"/>
          <p:cNvSpPr/>
          <p:nvPr/>
        </p:nvSpPr>
        <p:spPr>
          <a:xfrm>
            <a:off x="3756779" y="5709047"/>
            <a:ext cx="510302" cy="510302"/>
          </a:xfrm>
          <a:prstGeom prst="roundRect">
            <a:avLst>
              <a:gd name="adj" fmla="val 179188"/>
            </a:avLst>
          </a:prstGeom>
          <a:solidFill>
            <a:srgbClr val="9FA582"/>
          </a:solidFill>
          <a:ln/>
        </p:spPr>
      </p:sp>
      <p:pic>
        <p:nvPicPr>
          <p:cNvPr id="3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09893" y="5862042"/>
            <a:ext cx="204073" cy="204073"/>
          </a:xfrm>
          <a:prstGeom prst="rect">
            <a:avLst/>
          </a:prstGeom>
        </p:spPr>
      </p:pic>
      <p:sp>
        <p:nvSpPr>
          <p:cNvPr id="32" name="Text 25"/>
          <p:cNvSpPr/>
          <p:nvPr/>
        </p:nvSpPr>
        <p:spPr>
          <a:xfrm>
            <a:off x="986671" y="6389489"/>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Evaluation</a:t>
            </a:r>
            <a:endParaRPr lang="en-US" sz="1650" dirty="0"/>
          </a:p>
        </p:txBody>
      </p:sp>
      <p:sp>
        <p:nvSpPr>
          <p:cNvPr id="33" name="Text 26"/>
          <p:cNvSpPr/>
          <p:nvPr/>
        </p:nvSpPr>
        <p:spPr>
          <a:xfrm>
            <a:off x="986671" y="6757273"/>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Assessing model performance using accuracy, F1-score, and confusion matrices.</a:t>
            </a:r>
            <a:endParaRPr lang="en-US" sz="1300" dirty="0"/>
          </a:p>
        </p:txBody>
      </p:sp>
      <p:sp>
        <p:nvSpPr>
          <p:cNvPr id="34" name="Shape 27"/>
          <p:cNvSpPr/>
          <p:nvPr/>
        </p:nvSpPr>
        <p:spPr>
          <a:xfrm>
            <a:off x="7400211" y="5964198"/>
            <a:ext cx="6436400" cy="1530310"/>
          </a:xfrm>
          <a:prstGeom prst="roundRect">
            <a:avLst>
              <a:gd name="adj" fmla="val 7170"/>
            </a:avLst>
          </a:prstGeom>
          <a:solidFill>
            <a:srgbClr val="1C1D1F"/>
          </a:solidFill>
          <a:ln/>
        </p:spPr>
      </p:sp>
      <p:sp>
        <p:nvSpPr>
          <p:cNvPr id="35" name="Shape 28"/>
          <p:cNvSpPr/>
          <p:nvPr/>
        </p:nvSpPr>
        <p:spPr>
          <a:xfrm>
            <a:off x="7400211" y="5941338"/>
            <a:ext cx="6436400" cy="91440"/>
          </a:xfrm>
          <a:prstGeom prst="roundRect">
            <a:avLst>
              <a:gd name="adj" fmla="val 27907"/>
            </a:avLst>
          </a:prstGeom>
          <a:solidFill>
            <a:srgbClr val="9FA582"/>
          </a:solidFill>
          <a:ln/>
        </p:spPr>
      </p:sp>
      <p:sp>
        <p:nvSpPr>
          <p:cNvPr id="36" name="Shape 29"/>
          <p:cNvSpPr/>
          <p:nvPr/>
        </p:nvSpPr>
        <p:spPr>
          <a:xfrm>
            <a:off x="10363200" y="5709047"/>
            <a:ext cx="510302" cy="510302"/>
          </a:xfrm>
          <a:prstGeom prst="roundRect">
            <a:avLst>
              <a:gd name="adj" fmla="val 179188"/>
            </a:avLst>
          </a:prstGeom>
          <a:solidFill>
            <a:srgbClr val="9FA582"/>
          </a:solidFill>
          <a:ln/>
        </p:spPr>
      </p:sp>
      <p:pic>
        <p:nvPicPr>
          <p:cNvPr id="37"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16314" y="5862042"/>
            <a:ext cx="204073" cy="204073"/>
          </a:xfrm>
          <a:prstGeom prst="rect">
            <a:avLst/>
          </a:prstGeom>
        </p:spPr>
      </p:pic>
      <p:sp>
        <p:nvSpPr>
          <p:cNvPr id="38" name="Text 30"/>
          <p:cNvSpPr/>
          <p:nvPr/>
        </p:nvSpPr>
        <p:spPr>
          <a:xfrm>
            <a:off x="7593092" y="6389489"/>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Deployment</a:t>
            </a:r>
            <a:endParaRPr lang="en-US" sz="1650" dirty="0"/>
          </a:p>
        </p:txBody>
      </p:sp>
      <p:sp>
        <p:nvSpPr>
          <p:cNvPr id="39" name="Text 31"/>
          <p:cNvSpPr/>
          <p:nvPr/>
        </p:nvSpPr>
        <p:spPr>
          <a:xfrm>
            <a:off x="7593092" y="6757273"/>
            <a:ext cx="605063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Integrating the solution with Gradio and a RAG chatbot for practical use.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2464" y="520422"/>
            <a:ext cx="5612606" cy="473273"/>
          </a:xfrm>
          <a:prstGeom prst="rect">
            <a:avLst/>
          </a:prstGeom>
          <a:noFill/>
          <a:ln/>
        </p:spPr>
        <p:txBody>
          <a:bodyPr wrap="none" lIns="0" tIns="0" rIns="0" bIns="0" rtlCol="0" anchor="t"/>
          <a:lstStyle/>
          <a:p>
            <a:pPr marL="0" indent="0" algn="l">
              <a:lnSpc>
                <a:spcPts val="3700"/>
              </a:lnSpc>
              <a:buNone/>
            </a:pPr>
            <a:r>
              <a:rPr lang="en-US" sz="2950" b="1" dirty="0">
                <a:solidFill>
                  <a:srgbClr val="E1E5CD"/>
                </a:solidFill>
                <a:latin typeface="Outfit Bold" pitchFamily="34" charset="0"/>
                <a:ea typeface="Outfit Bold" pitchFamily="34" charset="-122"/>
                <a:cs typeface="Outfit Bold" pitchFamily="34" charset="-120"/>
              </a:rPr>
              <a:t>Phase 1: Business Understanding</a:t>
            </a:r>
            <a:endParaRPr lang="en-US" sz="2950" dirty="0"/>
          </a:p>
        </p:txBody>
      </p:sp>
      <p:sp>
        <p:nvSpPr>
          <p:cNvPr id="3" name="Shape 1"/>
          <p:cNvSpPr/>
          <p:nvPr/>
        </p:nvSpPr>
        <p:spPr>
          <a:xfrm>
            <a:off x="662464" y="1296472"/>
            <a:ext cx="6577013" cy="5200293"/>
          </a:xfrm>
          <a:prstGeom prst="roundRect">
            <a:avLst>
              <a:gd name="adj" fmla="val 1407"/>
            </a:avLst>
          </a:prstGeom>
          <a:solidFill>
            <a:srgbClr val="1C1D1F"/>
          </a:solidFill>
          <a:ln w="15240">
            <a:solidFill>
              <a:srgbClr val="545557"/>
            </a:solidFill>
            <a:prstDash val="solid"/>
          </a:ln>
        </p:spPr>
      </p:sp>
      <p:sp>
        <p:nvSpPr>
          <p:cNvPr id="4" name="Shape 2"/>
          <p:cNvSpPr/>
          <p:nvPr/>
        </p:nvSpPr>
        <p:spPr>
          <a:xfrm>
            <a:off x="647224" y="1296472"/>
            <a:ext cx="60960" cy="5200293"/>
          </a:xfrm>
          <a:prstGeom prst="roundRect">
            <a:avLst>
              <a:gd name="adj" fmla="val 37260"/>
            </a:avLst>
          </a:prstGeom>
          <a:solidFill>
            <a:srgbClr val="9FA582"/>
          </a:solidFill>
          <a:ln/>
        </p:spPr>
      </p:sp>
      <p:sp>
        <p:nvSpPr>
          <p:cNvPr id="5" name="Text 3"/>
          <p:cNvSpPr/>
          <p:nvPr/>
        </p:nvSpPr>
        <p:spPr>
          <a:xfrm>
            <a:off x="874752" y="1463040"/>
            <a:ext cx="3723203" cy="244197"/>
          </a:xfrm>
          <a:prstGeom prst="rect">
            <a:avLst/>
          </a:prstGeom>
          <a:noFill/>
          <a:ln/>
        </p:spPr>
        <p:txBody>
          <a:bodyPr wrap="none" lIns="0" tIns="0" rIns="0" bIns="0" rtlCol="0" anchor="t"/>
          <a:lstStyle/>
          <a:p>
            <a:pPr marL="0" indent="0" algn="l">
              <a:lnSpc>
                <a:spcPts val="1850"/>
              </a:lnSpc>
              <a:buNone/>
            </a:pPr>
            <a:r>
              <a:rPr lang="en-US" sz="1450" b="1" dirty="0">
                <a:solidFill>
                  <a:srgbClr val="000000"/>
                </a:solidFill>
                <a:latin typeface="Outfit Bold" pitchFamily="34" charset="0"/>
                <a:ea typeface="Outfit Bold" pitchFamily="34" charset="-122"/>
                <a:cs typeface="Outfit Bold" pitchFamily="34" charset="-120"/>
              </a:rPr>
              <a:t>🚨</a:t>
            </a:r>
            <a:r>
              <a:rPr lang="en-US" sz="1450" b="1" dirty="0">
                <a:solidFill>
                  <a:srgbClr val="C2C4B5"/>
                </a:solidFill>
                <a:latin typeface="Outfit Bold" pitchFamily="34" charset="0"/>
                <a:ea typeface="Outfit Bold" pitchFamily="34" charset="-122"/>
                <a:cs typeface="Outfit Bold" pitchFamily="34" charset="-120"/>
              </a:rPr>
              <a:t> Problem Statement: Global Yield Losses</a:t>
            </a:r>
            <a:endParaRPr lang="en-US" sz="1450" dirty="0"/>
          </a:p>
        </p:txBody>
      </p:sp>
      <p:sp>
        <p:nvSpPr>
          <p:cNvPr id="6" name="Text 4"/>
          <p:cNvSpPr/>
          <p:nvPr/>
        </p:nvSpPr>
        <p:spPr>
          <a:xfrm>
            <a:off x="874752" y="1798082"/>
            <a:ext cx="6198156" cy="726877"/>
          </a:xfrm>
          <a:prstGeom prst="rect">
            <a:avLst/>
          </a:prstGeom>
          <a:noFill/>
          <a:ln/>
        </p:spPr>
        <p:txBody>
          <a:bodyPr wrap="square" lIns="0" tIns="0" rIns="0" bIns="0" rtlCol="0" anchor="t"/>
          <a:lstStyle/>
          <a:p>
            <a:pPr marL="0" indent="0" algn="l">
              <a:lnSpc>
                <a:spcPts val="1900"/>
              </a:lnSpc>
              <a:buNone/>
            </a:pPr>
            <a:r>
              <a:rPr lang="en-US" sz="1150" dirty="0">
                <a:solidFill>
                  <a:srgbClr val="C2C4B5"/>
                </a:solidFill>
                <a:latin typeface="Bitter" pitchFamily="34" charset="0"/>
                <a:ea typeface="Bitter" pitchFamily="34" charset="-122"/>
                <a:cs typeface="Bitter" pitchFamily="34" charset="-120"/>
              </a:rPr>
              <a:t>Agriculture faces significant challenges, with 20-40% of global crop yields lost annually due to plant diseases. Current manual identification methods are slow, costly, and prone to human error, leading to delayed interventions and further losses.</a:t>
            </a:r>
            <a:endParaRPr lang="en-US" sz="1150" dirty="0"/>
          </a:p>
        </p:txBody>
      </p:sp>
      <p:pic>
        <p:nvPicPr>
          <p:cNvPr id="7" name="Image 0" descr="preencoded.png"/>
          <p:cNvPicPr>
            <a:picLocks noChangeAspect="1"/>
          </p:cNvPicPr>
          <p:nvPr/>
        </p:nvPicPr>
        <p:blipFill>
          <a:blip r:embed="rId3"/>
          <a:stretch>
            <a:fillRect/>
          </a:stretch>
        </p:blipFill>
        <p:spPr>
          <a:xfrm>
            <a:off x="874752" y="2695218"/>
            <a:ext cx="4958477" cy="3392567"/>
          </a:xfrm>
          <a:prstGeom prst="rect">
            <a:avLst/>
          </a:prstGeom>
        </p:spPr>
      </p:pic>
      <p:sp>
        <p:nvSpPr>
          <p:cNvPr id="8" name="Shape 5"/>
          <p:cNvSpPr/>
          <p:nvPr/>
        </p:nvSpPr>
        <p:spPr>
          <a:xfrm>
            <a:off x="7390805" y="1296472"/>
            <a:ext cx="6577132" cy="5200293"/>
          </a:xfrm>
          <a:prstGeom prst="roundRect">
            <a:avLst>
              <a:gd name="adj" fmla="val 1407"/>
            </a:avLst>
          </a:prstGeom>
          <a:solidFill>
            <a:srgbClr val="1C1D1F"/>
          </a:solidFill>
          <a:ln w="15240">
            <a:solidFill>
              <a:srgbClr val="545557"/>
            </a:solidFill>
            <a:prstDash val="solid"/>
          </a:ln>
        </p:spPr>
      </p:sp>
      <p:sp>
        <p:nvSpPr>
          <p:cNvPr id="9" name="Shape 6"/>
          <p:cNvSpPr/>
          <p:nvPr/>
        </p:nvSpPr>
        <p:spPr>
          <a:xfrm>
            <a:off x="7375565" y="1296472"/>
            <a:ext cx="60960" cy="5200293"/>
          </a:xfrm>
          <a:prstGeom prst="roundRect">
            <a:avLst>
              <a:gd name="adj" fmla="val 37260"/>
            </a:avLst>
          </a:prstGeom>
          <a:solidFill>
            <a:srgbClr val="9FA582"/>
          </a:solidFill>
          <a:ln/>
        </p:spPr>
      </p:sp>
      <p:sp>
        <p:nvSpPr>
          <p:cNvPr id="10" name="Text 7"/>
          <p:cNvSpPr/>
          <p:nvPr/>
        </p:nvSpPr>
        <p:spPr>
          <a:xfrm>
            <a:off x="7603093" y="1463040"/>
            <a:ext cx="4785122" cy="244197"/>
          </a:xfrm>
          <a:prstGeom prst="rect">
            <a:avLst/>
          </a:prstGeom>
          <a:noFill/>
          <a:ln/>
        </p:spPr>
        <p:txBody>
          <a:bodyPr wrap="none" lIns="0" tIns="0" rIns="0" bIns="0" rtlCol="0" anchor="t"/>
          <a:lstStyle/>
          <a:p>
            <a:pPr marL="0" indent="0" algn="l">
              <a:lnSpc>
                <a:spcPts val="1850"/>
              </a:lnSpc>
              <a:buNone/>
            </a:pPr>
            <a:r>
              <a:rPr lang="en-US" sz="1450" b="1" dirty="0">
                <a:solidFill>
                  <a:srgbClr val="000000"/>
                </a:solidFill>
                <a:latin typeface="Outfit Bold" pitchFamily="34" charset="0"/>
                <a:ea typeface="Outfit Bold" pitchFamily="34" charset="-122"/>
                <a:cs typeface="Outfit Bold" pitchFamily="34" charset="-120"/>
              </a:rPr>
              <a:t>🎯</a:t>
            </a:r>
            <a:r>
              <a:rPr lang="en-US" sz="1450" b="1" dirty="0">
                <a:solidFill>
                  <a:srgbClr val="C2C4B5"/>
                </a:solidFill>
                <a:latin typeface="Outfit Bold" pitchFamily="34" charset="0"/>
                <a:ea typeface="Outfit Bold" pitchFamily="34" charset="-122"/>
                <a:cs typeface="Outfit Bold" pitchFamily="34" charset="-120"/>
              </a:rPr>
              <a:t> Project Objectives: Automated &amp; Actionable Insights</a:t>
            </a:r>
            <a:endParaRPr lang="en-US" sz="1450" dirty="0"/>
          </a:p>
        </p:txBody>
      </p:sp>
      <p:sp>
        <p:nvSpPr>
          <p:cNvPr id="11" name="Text 8"/>
          <p:cNvSpPr/>
          <p:nvPr/>
        </p:nvSpPr>
        <p:spPr>
          <a:xfrm>
            <a:off x="7603093" y="1798082"/>
            <a:ext cx="6198275" cy="969169"/>
          </a:xfrm>
          <a:prstGeom prst="rect">
            <a:avLst/>
          </a:prstGeom>
          <a:noFill/>
          <a:ln/>
        </p:spPr>
        <p:txBody>
          <a:bodyPr wrap="square" lIns="0" tIns="0" rIns="0" bIns="0" rtlCol="0" anchor="t"/>
          <a:lstStyle/>
          <a:p>
            <a:pPr marL="0" indent="0" algn="l">
              <a:lnSpc>
                <a:spcPts val="1900"/>
              </a:lnSpc>
              <a:buNone/>
            </a:pPr>
            <a:r>
              <a:rPr lang="en-US" sz="1150" dirty="0">
                <a:solidFill>
                  <a:srgbClr val="C2C4B5"/>
                </a:solidFill>
                <a:latin typeface="Bitter" pitchFamily="34" charset="0"/>
                <a:ea typeface="Bitter" pitchFamily="34" charset="-122"/>
                <a:cs typeface="Bitter" pitchFamily="34" charset="-120"/>
              </a:rPr>
              <a:t>Our primary goal is to develop an automated system for rapid and accurate plant disease detection using advanced Computer Vision techniques. This system will also provide specific, actionable treatment recommendations to farmers, minimizing losses and improving crop health.</a:t>
            </a:r>
            <a:endParaRPr lang="en-US" sz="1150" dirty="0"/>
          </a:p>
        </p:txBody>
      </p:sp>
      <p:pic>
        <p:nvPicPr>
          <p:cNvPr id="12" name="Image 1" descr="preencoded.png"/>
          <p:cNvPicPr>
            <a:picLocks noChangeAspect="1"/>
          </p:cNvPicPr>
          <p:nvPr/>
        </p:nvPicPr>
        <p:blipFill>
          <a:blip r:embed="rId4"/>
          <a:stretch>
            <a:fillRect/>
          </a:stretch>
        </p:blipFill>
        <p:spPr>
          <a:xfrm>
            <a:off x="7603093" y="2937510"/>
            <a:ext cx="4958596" cy="3392686"/>
          </a:xfrm>
          <a:prstGeom prst="rect">
            <a:avLst/>
          </a:prstGeom>
        </p:spPr>
      </p:pic>
      <p:sp>
        <p:nvSpPr>
          <p:cNvPr id="13" name="Text 9"/>
          <p:cNvSpPr/>
          <p:nvPr/>
        </p:nvSpPr>
        <p:spPr>
          <a:xfrm>
            <a:off x="662464" y="6742628"/>
            <a:ext cx="4308991" cy="499586"/>
          </a:xfrm>
          <a:prstGeom prst="rect">
            <a:avLst/>
          </a:prstGeom>
          <a:noFill/>
          <a:ln/>
        </p:spPr>
        <p:txBody>
          <a:bodyPr wrap="none" lIns="0" tIns="0" rIns="0" bIns="0" rtlCol="0" anchor="t"/>
          <a:lstStyle/>
          <a:p>
            <a:pPr marL="0" indent="0" algn="ctr">
              <a:lnSpc>
                <a:spcPts val="3900"/>
              </a:lnSpc>
              <a:buNone/>
            </a:pPr>
            <a:r>
              <a:rPr lang="en-US" sz="3900" b="1" dirty="0">
                <a:solidFill>
                  <a:srgbClr val="C2C4B5"/>
                </a:solidFill>
                <a:latin typeface="Outfit Bold" pitchFamily="34" charset="0"/>
                <a:ea typeface="Outfit Bold" pitchFamily="34" charset="-122"/>
                <a:cs typeface="Outfit Bold" pitchFamily="34" charset="-120"/>
              </a:rPr>
              <a:t>&gt;90%</a:t>
            </a:r>
            <a:endParaRPr lang="en-US" sz="3900" dirty="0"/>
          </a:p>
        </p:txBody>
      </p:sp>
      <p:sp>
        <p:nvSpPr>
          <p:cNvPr id="14" name="Text 10"/>
          <p:cNvSpPr/>
          <p:nvPr/>
        </p:nvSpPr>
        <p:spPr>
          <a:xfrm>
            <a:off x="1870591" y="7431286"/>
            <a:ext cx="1892737" cy="236577"/>
          </a:xfrm>
          <a:prstGeom prst="rect">
            <a:avLst/>
          </a:prstGeom>
          <a:noFill/>
          <a:ln/>
        </p:spPr>
        <p:txBody>
          <a:bodyPr wrap="none" lIns="0" tIns="0" rIns="0" bIns="0" rtlCol="0" anchor="t"/>
          <a:lstStyle/>
          <a:p>
            <a:pPr marL="0" indent="0" algn="ctr">
              <a:lnSpc>
                <a:spcPts val="1850"/>
              </a:lnSpc>
              <a:buNone/>
            </a:pPr>
            <a:r>
              <a:rPr lang="en-US" sz="1450" b="1" dirty="0">
                <a:solidFill>
                  <a:srgbClr val="C2C4B5"/>
                </a:solidFill>
                <a:latin typeface="Outfit Bold" pitchFamily="34" charset="0"/>
                <a:ea typeface="Outfit Bold" pitchFamily="34" charset="-122"/>
                <a:cs typeface="Outfit Bold" pitchFamily="34" charset="-120"/>
              </a:rPr>
              <a:t>Accuracy</a:t>
            </a:r>
            <a:endParaRPr lang="en-US" sz="1450" dirty="0"/>
          </a:p>
        </p:txBody>
      </p:sp>
      <p:sp>
        <p:nvSpPr>
          <p:cNvPr id="15" name="Text 11"/>
          <p:cNvSpPr/>
          <p:nvPr/>
        </p:nvSpPr>
        <p:spPr>
          <a:xfrm>
            <a:off x="662464" y="7758708"/>
            <a:ext cx="4308991" cy="242292"/>
          </a:xfrm>
          <a:prstGeom prst="rect">
            <a:avLst/>
          </a:prstGeom>
          <a:noFill/>
          <a:ln/>
        </p:spPr>
        <p:txBody>
          <a:bodyPr wrap="none" lIns="0" tIns="0" rIns="0" bIns="0" rtlCol="0" anchor="t"/>
          <a:lstStyle/>
          <a:p>
            <a:pPr marL="0" indent="0" algn="ctr">
              <a:lnSpc>
                <a:spcPts val="1900"/>
              </a:lnSpc>
              <a:buNone/>
            </a:pPr>
            <a:r>
              <a:rPr lang="en-US" sz="1150" dirty="0">
                <a:solidFill>
                  <a:srgbClr val="C2C4B5"/>
                </a:solidFill>
                <a:latin typeface="Bitter" pitchFamily="34" charset="0"/>
                <a:ea typeface="Bitter" pitchFamily="34" charset="-122"/>
                <a:cs typeface="Bitter" pitchFamily="34" charset="-120"/>
              </a:rPr>
              <a:t>Target accuracy for disease detection.</a:t>
            </a:r>
            <a:endParaRPr lang="en-US" sz="1150" dirty="0"/>
          </a:p>
        </p:txBody>
      </p:sp>
      <p:sp>
        <p:nvSpPr>
          <p:cNvPr id="16" name="Text 12"/>
          <p:cNvSpPr/>
          <p:nvPr/>
        </p:nvSpPr>
        <p:spPr>
          <a:xfrm>
            <a:off x="5160645" y="6742628"/>
            <a:ext cx="4308991" cy="499586"/>
          </a:xfrm>
          <a:prstGeom prst="rect">
            <a:avLst/>
          </a:prstGeom>
          <a:noFill/>
          <a:ln/>
        </p:spPr>
        <p:txBody>
          <a:bodyPr wrap="none" lIns="0" tIns="0" rIns="0" bIns="0" rtlCol="0" anchor="t"/>
          <a:lstStyle/>
          <a:p>
            <a:pPr marL="0" indent="0" algn="ctr">
              <a:lnSpc>
                <a:spcPts val="3900"/>
              </a:lnSpc>
              <a:buNone/>
            </a:pPr>
            <a:r>
              <a:rPr lang="en-US" sz="3900" b="1" dirty="0">
                <a:solidFill>
                  <a:srgbClr val="C2C4B5"/>
                </a:solidFill>
                <a:latin typeface="Outfit Bold" pitchFamily="34" charset="0"/>
                <a:ea typeface="Outfit Bold" pitchFamily="34" charset="-122"/>
                <a:cs typeface="Outfit Bold" pitchFamily="34" charset="-120"/>
              </a:rPr>
              <a:t>&lt;50ms</a:t>
            </a:r>
            <a:endParaRPr lang="en-US" sz="3900" dirty="0"/>
          </a:p>
        </p:txBody>
      </p:sp>
      <p:sp>
        <p:nvSpPr>
          <p:cNvPr id="17" name="Text 13"/>
          <p:cNvSpPr/>
          <p:nvPr/>
        </p:nvSpPr>
        <p:spPr>
          <a:xfrm>
            <a:off x="6368772" y="7431286"/>
            <a:ext cx="1892737" cy="236577"/>
          </a:xfrm>
          <a:prstGeom prst="rect">
            <a:avLst/>
          </a:prstGeom>
          <a:noFill/>
          <a:ln/>
        </p:spPr>
        <p:txBody>
          <a:bodyPr wrap="none" lIns="0" tIns="0" rIns="0" bIns="0" rtlCol="0" anchor="t"/>
          <a:lstStyle/>
          <a:p>
            <a:pPr marL="0" indent="0" algn="ctr">
              <a:lnSpc>
                <a:spcPts val="1850"/>
              </a:lnSpc>
              <a:buNone/>
            </a:pPr>
            <a:r>
              <a:rPr lang="en-US" sz="1450" b="1" dirty="0">
                <a:solidFill>
                  <a:srgbClr val="C2C4B5"/>
                </a:solidFill>
                <a:latin typeface="Outfit Bold" pitchFamily="34" charset="0"/>
                <a:ea typeface="Outfit Bold" pitchFamily="34" charset="-122"/>
                <a:cs typeface="Outfit Bold" pitchFamily="34" charset="-120"/>
              </a:rPr>
              <a:t>Inference</a:t>
            </a:r>
            <a:endParaRPr lang="en-US" sz="1450" dirty="0"/>
          </a:p>
        </p:txBody>
      </p:sp>
      <p:sp>
        <p:nvSpPr>
          <p:cNvPr id="18" name="Text 14"/>
          <p:cNvSpPr/>
          <p:nvPr/>
        </p:nvSpPr>
        <p:spPr>
          <a:xfrm>
            <a:off x="5160645" y="7758708"/>
            <a:ext cx="4308991" cy="242292"/>
          </a:xfrm>
          <a:prstGeom prst="rect">
            <a:avLst/>
          </a:prstGeom>
          <a:noFill/>
          <a:ln/>
        </p:spPr>
        <p:txBody>
          <a:bodyPr wrap="none" lIns="0" tIns="0" rIns="0" bIns="0" rtlCol="0" anchor="t"/>
          <a:lstStyle/>
          <a:p>
            <a:pPr marL="0" indent="0" algn="ctr">
              <a:lnSpc>
                <a:spcPts val="1900"/>
              </a:lnSpc>
              <a:buNone/>
            </a:pPr>
            <a:r>
              <a:rPr lang="en-US" sz="1150" dirty="0">
                <a:solidFill>
                  <a:srgbClr val="C2C4B5"/>
                </a:solidFill>
                <a:latin typeface="Bitter" pitchFamily="34" charset="0"/>
                <a:ea typeface="Bitter" pitchFamily="34" charset="-122"/>
                <a:cs typeface="Bitter" pitchFamily="34" charset="-120"/>
              </a:rPr>
              <a:t>Desired inference time for real-time diagnosis.</a:t>
            </a:r>
            <a:endParaRPr lang="en-US" sz="1150" dirty="0"/>
          </a:p>
        </p:txBody>
      </p:sp>
      <p:sp>
        <p:nvSpPr>
          <p:cNvPr id="19" name="Text 15"/>
          <p:cNvSpPr/>
          <p:nvPr/>
        </p:nvSpPr>
        <p:spPr>
          <a:xfrm>
            <a:off x="9658826" y="6742628"/>
            <a:ext cx="4308991" cy="499586"/>
          </a:xfrm>
          <a:prstGeom prst="rect">
            <a:avLst/>
          </a:prstGeom>
          <a:noFill/>
          <a:ln/>
        </p:spPr>
        <p:txBody>
          <a:bodyPr wrap="none" lIns="0" tIns="0" rIns="0" bIns="0" rtlCol="0" anchor="t"/>
          <a:lstStyle/>
          <a:p>
            <a:pPr marL="0" indent="0" algn="ctr">
              <a:lnSpc>
                <a:spcPts val="3900"/>
              </a:lnSpc>
              <a:buNone/>
            </a:pPr>
            <a:r>
              <a:rPr lang="en-US" sz="3900" b="1" dirty="0">
                <a:solidFill>
                  <a:srgbClr val="C2C4B5"/>
                </a:solidFill>
                <a:latin typeface="Outfit Bold" pitchFamily="34" charset="0"/>
                <a:ea typeface="Outfit Bold" pitchFamily="34" charset="-122"/>
                <a:cs typeface="Outfit Bold" pitchFamily="34" charset="-120"/>
              </a:rPr>
              <a:t>&lt;50MB</a:t>
            </a:r>
            <a:endParaRPr lang="en-US" sz="3900" dirty="0"/>
          </a:p>
        </p:txBody>
      </p:sp>
      <p:sp>
        <p:nvSpPr>
          <p:cNvPr id="20" name="Text 16"/>
          <p:cNvSpPr/>
          <p:nvPr/>
        </p:nvSpPr>
        <p:spPr>
          <a:xfrm>
            <a:off x="10866953" y="7431286"/>
            <a:ext cx="1892737" cy="236577"/>
          </a:xfrm>
          <a:prstGeom prst="rect">
            <a:avLst/>
          </a:prstGeom>
          <a:noFill/>
          <a:ln/>
        </p:spPr>
        <p:txBody>
          <a:bodyPr wrap="none" lIns="0" tIns="0" rIns="0" bIns="0" rtlCol="0" anchor="t"/>
          <a:lstStyle/>
          <a:p>
            <a:pPr marL="0" indent="0" algn="ctr">
              <a:lnSpc>
                <a:spcPts val="1850"/>
              </a:lnSpc>
              <a:buNone/>
            </a:pPr>
            <a:r>
              <a:rPr lang="en-US" sz="1450" b="1" dirty="0">
                <a:solidFill>
                  <a:srgbClr val="C2C4B5"/>
                </a:solidFill>
                <a:latin typeface="Outfit Bold" pitchFamily="34" charset="0"/>
                <a:ea typeface="Outfit Bold" pitchFamily="34" charset="-122"/>
                <a:cs typeface="Outfit Bold" pitchFamily="34" charset="-120"/>
              </a:rPr>
              <a:t>Size</a:t>
            </a:r>
            <a:endParaRPr lang="en-US" sz="1450" dirty="0"/>
          </a:p>
        </p:txBody>
      </p:sp>
      <p:sp>
        <p:nvSpPr>
          <p:cNvPr id="21" name="Text 17"/>
          <p:cNvSpPr/>
          <p:nvPr/>
        </p:nvSpPr>
        <p:spPr>
          <a:xfrm>
            <a:off x="9658826" y="7758708"/>
            <a:ext cx="4308991" cy="242292"/>
          </a:xfrm>
          <a:prstGeom prst="rect">
            <a:avLst/>
          </a:prstGeom>
          <a:noFill/>
          <a:ln/>
        </p:spPr>
        <p:txBody>
          <a:bodyPr wrap="none" lIns="0" tIns="0" rIns="0" bIns="0" rtlCol="0" anchor="t"/>
          <a:lstStyle/>
          <a:p>
            <a:pPr marL="0" indent="0" algn="ctr">
              <a:lnSpc>
                <a:spcPts val="1900"/>
              </a:lnSpc>
              <a:buNone/>
            </a:pPr>
            <a:r>
              <a:rPr lang="en-US" sz="1150" dirty="0">
                <a:solidFill>
                  <a:srgbClr val="C2C4B5"/>
                </a:solidFill>
                <a:latin typeface="Bitter" pitchFamily="34" charset="0"/>
                <a:ea typeface="Bitter" pitchFamily="34" charset="-122"/>
                <a:cs typeface="Bitter" pitchFamily="34" charset="-120"/>
              </a:rPr>
              <a:t>Maximum model size for mobile deployment.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57369"/>
            <a:ext cx="11494413" cy="602456"/>
          </a:xfrm>
          <a:prstGeom prst="rect">
            <a:avLst/>
          </a:prstGeom>
          <a:noFill/>
          <a:ln/>
        </p:spPr>
        <p:txBody>
          <a:bodyPr wrap="none" lIns="0" tIns="0" rIns="0" bIns="0" rtlCol="0" anchor="t"/>
          <a:lstStyle/>
          <a:p>
            <a:pPr marL="0" indent="0" algn="l">
              <a:lnSpc>
                <a:spcPts val="4700"/>
              </a:lnSpc>
              <a:buNone/>
            </a:pPr>
            <a:r>
              <a:rPr lang="en-US" sz="3750" b="1" dirty="0">
                <a:solidFill>
                  <a:srgbClr val="E1E5CD"/>
                </a:solidFill>
                <a:latin typeface="Outfit Bold" pitchFamily="34" charset="0"/>
                <a:ea typeface="Outfit Bold" pitchFamily="34" charset="-122"/>
                <a:cs typeface="Outfit Bold" pitchFamily="34" charset="-120"/>
              </a:rPr>
              <a:t>Phase 2: Data Understanding - PlantVillage Dataset</a:t>
            </a:r>
            <a:endParaRPr lang="en-US" sz="3750" dirty="0"/>
          </a:p>
        </p:txBody>
      </p:sp>
      <p:pic>
        <p:nvPicPr>
          <p:cNvPr id="3" name="Image 0" descr="preencoded.png"/>
          <p:cNvPicPr>
            <a:picLocks noChangeAspect="1"/>
          </p:cNvPicPr>
          <p:nvPr/>
        </p:nvPicPr>
        <p:blipFill>
          <a:blip r:embed="rId3"/>
          <a:stretch>
            <a:fillRect/>
          </a:stretch>
        </p:blipFill>
        <p:spPr>
          <a:xfrm>
            <a:off x="793790" y="1965841"/>
            <a:ext cx="6491764" cy="3227427"/>
          </a:xfrm>
          <a:prstGeom prst="rect">
            <a:avLst/>
          </a:prstGeom>
        </p:spPr>
      </p:pic>
      <p:sp>
        <p:nvSpPr>
          <p:cNvPr id="4" name="Text 1"/>
          <p:cNvSpPr/>
          <p:nvPr/>
        </p:nvSpPr>
        <p:spPr>
          <a:xfrm>
            <a:off x="793790" y="5410081"/>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9FA582"/>
                </a:solidFill>
                <a:latin typeface="Outfit Bold" pitchFamily="34" charset="0"/>
                <a:ea typeface="Outfit Bold" pitchFamily="34" charset="-122"/>
                <a:cs typeface="Outfit Bold" pitchFamily="34" charset="-120"/>
              </a:rPr>
              <a:t>Dataset:</a:t>
            </a:r>
            <a:r>
              <a:rPr lang="en-US" sz="1850" b="1" dirty="0">
                <a:solidFill>
                  <a:srgbClr val="E1E5CD"/>
                </a:solidFill>
                <a:latin typeface="Outfit Bold" pitchFamily="34" charset="0"/>
                <a:ea typeface="Outfit Bold" pitchFamily="34" charset="-122"/>
                <a:cs typeface="Outfit Bold" pitchFamily="34" charset="-120"/>
              </a:rPr>
              <a:t> PlantVillage</a:t>
            </a:r>
            <a:endParaRPr lang="en-US" sz="1850" dirty="0"/>
          </a:p>
        </p:txBody>
      </p:sp>
      <p:sp>
        <p:nvSpPr>
          <p:cNvPr id="5" name="Text 2"/>
          <p:cNvSpPr/>
          <p:nvPr/>
        </p:nvSpPr>
        <p:spPr>
          <a:xfrm>
            <a:off x="793790" y="5904071"/>
            <a:ext cx="7637502" cy="925116"/>
          </a:xfrm>
          <a:prstGeom prst="rect">
            <a:avLst/>
          </a:prstGeom>
          <a:noFill/>
          <a:ln/>
        </p:spPr>
        <p:txBody>
          <a:bodyPr wrap="square" lIns="0" tIns="0" rIns="0" bIns="0" rtlCol="0" anchor="t"/>
          <a:lstStyle/>
          <a:p>
            <a:pPr marL="0" indent="0" algn="l">
              <a:lnSpc>
                <a:spcPts val="2400"/>
              </a:lnSpc>
              <a:buNone/>
            </a:pPr>
            <a:r>
              <a:rPr lang="en-US" sz="1500" dirty="0">
                <a:solidFill>
                  <a:srgbClr val="C2C4B5"/>
                </a:solidFill>
                <a:latin typeface="Bitter" pitchFamily="34" charset="0"/>
                <a:ea typeface="Bitter" pitchFamily="34" charset="-122"/>
                <a:cs typeface="Bitter" pitchFamily="34" charset="-120"/>
              </a:rPr>
              <a:t>The PlantVillage dataset is a widely used benchmark in plant pathology, comprising 7,600 high-quality images across 38 distinct plant disease classes. This dataset formed the foundation of our training and validation.</a:t>
            </a:r>
            <a:endParaRPr lang="en-US" sz="1500" dirty="0"/>
          </a:p>
        </p:txBody>
      </p:sp>
      <p:sp>
        <p:nvSpPr>
          <p:cNvPr id="6" name="Text 3"/>
          <p:cNvSpPr/>
          <p:nvPr/>
        </p:nvSpPr>
        <p:spPr>
          <a:xfrm>
            <a:off x="8909209" y="1941790"/>
            <a:ext cx="2464118" cy="301228"/>
          </a:xfrm>
          <a:prstGeom prst="rect">
            <a:avLst/>
          </a:prstGeom>
          <a:noFill/>
          <a:ln/>
        </p:spPr>
        <p:txBody>
          <a:bodyPr wrap="none" lIns="0" tIns="0" rIns="0" bIns="0" rtlCol="0" anchor="t"/>
          <a:lstStyle/>
          <a:p>
            <a:pPr marL="0" indent="0" algn="l">
              <a:lnSpc>
                <a:spcPts val="2350"/>
              </a:lnSpc>
              <a:buNone/>
            </a:pPr>
            <a:r>
              <a:rPr lang="en-US" sz="1850" b="1" dirty="0">
                <a:solidFill>
                  <a:srgbClr val="9FA582"/>
                </a:solidFill>
                <a:latin typeface="Outfit Bold" pitchFamily="34" charset="0"/>
                <a:ea typeface="Outfit Bold" pitchFamily="34" charset="-122"/>
                <a:cs typeface="Outfit Bold" pitchFamily="34" charset="-120"/>
              </a:rPr>
              <a:t>Balance &amp; Distribution</a:t>
            </a:r>
            <a:endParaRPr lang="en-US" sz="1850" dirty="0"/>
          </a:p>
        </p:txBody>
      </p:sp>
      <p:sp>
        <p:nvSpPr>
          <p:cNvPr id="7" name="Text 4"/>
          <p:cNvSpPr/>
          <p:nvPr/>
        </p:nvSpPr>
        <p:spPr>
          <a:xfrm>
            <a:off x="8909209" y="2435781"/>
            <a:ext cx="4934903" cy="1233487"/>
          </a:xfrm>
          <a:prstGeom prst="rect">
            <a:avLst/>
          </a:prstGeom>
          <a:noFill/>
          <a:ln/>
        </p:spPr>
        <p:txBody>
          <a:bodyPr wrap="square" lIns="0" tIns="0" rIns="0" bIns="0" rtlCol="0" anchor="t"/>
          <a:lstStyle/>
          <a:p>
            <a:pPr marL="0" indent="0" algn="l">
              <a:lnSpc>
                <a:spcPts val="2400"/>
              </a:lnSpc>
              <a:buNone/>
            </a:pPr>
            <a:r>
              <a:rPr lang="en-US" sz="1500" dirty="0">
                <a:solidFill>
                  <a:srgbClr val="C2C4B5"/>
                </a:solidFill>
                <a:latin typeface="Bitter" pitchFamily="34" charset="0"/>
                <a:ea typeface="Bitter" pitchFamily="34" charset="-122"/>
                <a:cs typeface="Bitter" pitchFamily="34" charset="-120"/>
              </a:rPr>
              <a:t>The dataset exhibits a relatively balanced distribution, with a mean of 228 images per class. The class-wise image count ranges from 152 to 395, ensuring adequate representation for most diseases.</a:t>
            </a:r>
            <a:endParaRPr lang="en-US" sz="1500" dirty="0"/>
          </a:p>
        </p:txBody>
      </p:sp>
      <p:sp>
        <p:nvSpPr>
          <p:cNvPr id="8" name="Text 5"/>
          <p:cNvSpPr/>
          <p:nvPr/>
        </p:nvSpPr>
        <p:spPr>
          <a:xfrm>
            <a:off x="8909209" y="3842742"/>
            <a:ext cx="4934903" cy="3083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C2C4B5"/>
                </a:solidFill>
                <a:latin typeface="Bitter" pitchFamily="34" charset="0"/>
                <a:ea typeface="Bitter" pitchFamily="34" charset="-122"/>
                <a:cs typeface="Bitter" pitchFamily="34" charset="-120"/>
              </a:rPr>
              <a:t>Mean:</a:t>
            </a:r>
            <a:r>
              <a:rPr lang="en-US" sz="1500" dirty="0">
                <a:solidFill>
                  <a:srgbClr val="C2C4B5"/>
                </a:solidFill>
                <a:latin typeface="Bitter" pitchFamily="34" charset="0"/>
                <a:ea typeface="Bitter" pitchFamily="34" charset="-122"/>
                <a:cs typeface="Bitter" pitchFamily="34" charset="-120"/>
              </a:rPr>
              <a:t> 228 images/class</a:t>
            </a:r>
            <a:endParaRPr lang="en-US" sz="1500" dirty="0"/>
          </a:p>
        </p:txBody>
      </p:sp>
      <p:sp>
        <p:nvSpPr>
          <p:cNvPr id="9" name="Text 6"/>
          <p:cNvSpPr/>
          <p:nvPr/>
        </p:nvSpPr>
        <p:spPr>
          <a:xfrm>
            <a:off x="8909209" y="4218503"/>
            <a:ext cx="4934903" cy="308372"/>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C2C4B5"/>
                </a:solidFill>
                <a:latin typeface="Bitter" pitchFamily="34" charset="0"/>
                <a:ea typeface="Bitter" pitchFamily="34" charset="-122"/>
                <a:cs typeface="Bitter" pitchFamily="34" charset="-120"/>
              </a:rPr>
              <a:t>Range:</a:t>
            </a:r>
            <a:r>
              <a:rPr lang="en-US" sz="1500" dirty="0">
                <a:solidFill>
                  <a:srgbClr val="C2C4B5"/>
                </a:solidFill>
                <a:latin typeface="Bitter" pitchFamily="34" charset="0"/>
                <a:ea typeface="Bitter" pitchFamily="34" charset="-122"/>
                <a:cs typeface="Bitter" pitchFamily="34" charset="-120"/>
              </a:rPr>
              <a:t> 152-395 images/class</a:t>
            </a:r>
            <a:endParaRPr lang="en-US" sz="1500" dirty="0"/>
          </a:p>
        </p:txBody>
      </p:sp>
      <p:sp>
        <p:nvSpPr>
          <p:cNvPr id="10" name="Text 7"/>
          <p:cNvSpPr/>
          <p:nvPr/>
        </p:nvSpPr>
        <p:spPr>
          <a:xfrm>
            <a:off x="8909209" y="4719638"/>
            <a:ext cx="2421969" cy="301228"/>
          </a:xfrm>
          <a:prstGeom prst="rect">
            <a:avLst/>
          </a:prstGeom>
          <a:noFill/>
          <a:ln/>
        </p:spPr>
        <p:txBody>
          <a:bodyPr wrap="none" lIns="0" tIns="0" rIns="0" bIns="0" rtlCol="0" anchor="t"/>
          <a:lstStyle/>
          <a:p>
            <a:pPr marL="0" indent="0" algn="l">
              <a:lnSpc>
                <a:spcPts val="2350"/>
              </a:lnSpc>
              <a:buNone/>
            </a:pPr>
            <a:r>
              <a:rPr lang="en-US" sz="1850" b="1" dirty="0">
                <a:solidFill>
                  <a:srgbClr val="9FA582"/>
                </a:solidFill>
                <a:latin typeface="Outfit Bold" pitchFamily="34" charset="0"/>
                <a:ea typeface="Outfit Bold" pitchFamily="34" charset="-122"/>
                <a:cs typeface="Outfit Bold" pitchFamily="34" charset="-120"/>
              </a:rPr>
              <a:t>Challenges &amp; Nuances</a:t>
            </a:r>
            <a:endParaRPr lang="en-US" sz="1850" dirty="0"/>
          </a:p>
        </p:txBody>
      </p:sp>
      <p:sp>
        <p:nvSpPr>
          <p:cNvPr id="11" name="Text 8"/>
          <p:cNvSpPr/>
          <p:nvPr/>
        </p:nvSpPr>
        <p:spPr>
          <a:xfrm>
            <a:off x="8909209" y="5213628"/>
            <a:ext cx="4934903" cy="1233487"/>
          </a:xfrm>
          <a:prstGeom prst="rect">
            <a:avLst/>
          </a:prstGeom>
          <a:noFill/>
          <a:ln/>
        </p:spPr>
        <p:txBody>
          <a:bodyPr wrap="square" lIns="0" tIns="0" rIns="0" bIns="0" rtlCol="0" anchor="t"/>
          <a:lstStyle/>
          <a:p>
            <a:pPr marL="0" indent="0" algn="l">
              <a:lnSpc>
                <a:spcPts val="2400"/>
              </a:lnSpc>
              <a:buNone/>
            </a:pPr>
            <a:r>
              <a:rPr lang="en-US" sz="1500" dirty="0">
                <a:solidFill>
                  <a:srgbClr val="C2C4B5"/>
                </a:solidFill>
                <a:latin typeface="Bitter" pitchFamily="34" charset="0"/>
                <a:ea typeface="Bitter" pitchFamily="34" charset="-122"/>
                <a:cs typeface="Bitter" pitchFamily="34" charset="-120"/>
              </a:rPr>
              <a:t>Despite its strengths, the dataset presents challenges including potential "lab bias" due to controlled environments and the presence of visually similar diseases that require fine-grained discrimination.</a:t>
            </a:r>
            <a:endParaRPr lang="en-US" sz="1500" dirty="0"/>
          </a:p>
        </p:txBody>
      </p:sp>
      <p:sp>
        <p:nvSpPr>
          <p:cNvPr id="12" name="Text 9"/>
          <p:cNvSpPr/>
          <p:nvPr/>
        </p:nvSpPr>
        <p:spPr>
          <a:xfrm>
            <a:off x="8909209" y="6620589"/>
            <a:ext cx="4934903" cy="3083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2C4B5"/>
                </a:solidFill>
                <a:latin typeface="Bitter" pitchFamily="34" charset="0"/>
                <a:ea typeface="Bitter" pitchFamily="34" charset="-122"/>
                <a:cs typeface="Bitter" pitchFamily="34" charset="-120"/>
              </a:rPr>
              <a:t>Lab bias (controlled conditions)</a:t>
            </a:r>
            <a:endParaRPr lang="en-US" sz="1500" dirty="0"/>
          </a:p>
        </p:txBody>
      </p:sp>
      <p:sp>
        <p:nvSpPr>
          <p:cNvPr id="13" name="Text 10"/>
          <p:cNvSpPr/>
          <p:nvPr/>
        </p:nvSpPr>
        <p:spPr>
          <a:xfrm>
            <a:off x="8909209" y="6996351"/>
            <a:ext cx="4934903" cy="308372"/>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2C4B5"/>
                </a:solidFill>
                <a:latin typeface="Bitter" pitchFamily="34" charset="0"/>
                <a:ea typeface="Bitter" pitchFamily="34" charset="-122"/>
                <a:cs typeface="Bitter" pitchFamily="34" charset="-120"/>
              </a:rPr>
              <a:t>Similar diseases (e.g., early vs. late blight)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18436"/>
            <a:ext cx="10982682" cy="531614"/>
          </a:xfrm>
          <a:prstGeom prst="rect">
            <a:avLst/>
          </a:prstGeom>
          <a:noFill/>
          <a:ln/>
        </p:spPr>
        <p:txBody>
          <a:bodyPr wrap="none" lIns="0" tIns="0" rIns="0" bIns="0" rtlCol="0" anchor="t"/>
          <a:lstStyle/>
          <a:p>
            <a:pPr marL="0" indent="0" algn="l">
              <a:lnSpc>
                <a:spcPts val="4150"/>
              </a:lnSpc>
              <a:buNone/>
            </a:pPr>
            <a:r>
              <a:rPr lang="en-US" sz="3300" b="1" dirty="0">
                <a:solidFill>
                  <a:srgbClr val="E1E5CD"/>
                </a:solidFill>
                <a:latin typeface="Outfit Bold" pitchFamily="34" charset="0"/>
                <a:ea typeface="Outfit Bold" pitchFamily="34" charset="-122"/>
                <a:cs typeface="Outfit Bold" pitchFamily="34" charset="-120"/>
              </a:rPr>
              <a:t>Phase 3: Data Preparation - The Power of Augmentation</a:t>
            </a:r>
            <a:endParaRPr lang="en-US" sz="3300" dirty="0"/>
          </a:p>
        </p:txBody>
      </p:sp>
      <p:sp>
        <p:nvSpPr>
          <p:cNvPr id="3" name="Text 1"/>
          <p:cNvSpPr/>
          <p:nvPr/>
        </p:nvSpPr>
        <p:spPr>
          <a:xfrm>
            <a:off x="793790" y="1690211"/>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Robust data preparation was crucial for building a generalized and accurate model. Our strategy focused heavily on data augmentation to overcome dataset limitations and prevent overfitting.</a:t>
            </a:r>
            <a:endParaRPr lang="en-US" sz="1300" dirty="0"/>
          </a:p>
        </p:txBody>
      </p:sp>
      <p:sp>
        <p:nvSpPr>
          <p:cNvPr id="4" name="Shape 2"/>
          <p:cNvSpPr/>
          <p:nvPr/>
        </p:nvSpPr>
        <p:spPr>
          <a:xfrm>
            <a:off x="793790" y="2425898"/>
            <a:ext cx="6436400" cy="2810947"/>
          </a:xfrm>
          <a:prstGeom prst="roundRect">
            <a:avLst>
              <a:gd name="adj" fmla="val 908"/>
            </a:avLst>
          </a:prstGeom>
          <a:solidFill>
            <a:srgbClr val="1C1D1F"/>
          </a:solidFill>
          <a:ln w="22860">
            <a:solidFill>
              <a:srgbClr val="545557"/>
            </a:solidFill>
            <a:prstDash val="solid"/>
          </a:ln>
        </p:spPr>
      </p:sp>
      <p:sp>
        <p:nvSpPr>
          <p:cNvPr id="5" name="Shape 3"/>
          <p:cNvSpPr/>
          <p:nvPr/>
        </p:nvSpPr>
        <p:spPr>
          <a:xfrm>
            <a:off x="816650" y="2448758"/>
            <a:ext cx="6390680" cy="510302"/>
          </a:xfrm>
          <a:prstGeom prst="rect">
            <a:avLst/>
          </a:prstGeom>
          <a:solidFill>
            <a:srgbClr val="3B3C3E"/>
          </a:solidFill>
          <a:ln/>
        </p:spPr>
      </p:sp>
      <p:sp>
        <p:nvSpPr>
          <p:cNvPr id="6" name="Text 4"/>
          <p:cNvSpPr/>
          <p:nvPr/>
        </p:nvSpPr>
        <p:spPr>
          <a:xfrm>
            <a:off x="986671" y="3129082"/>
            <a:ext cx="2281833" cy="273368"/>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Outfit Bold" pitchFamily="34" charset="0"/>
                <a:ea typeface="Outfit Bold" pitchFamily="34" charset="-122"/>
                <a:cs typeface="Outfit Bold" pitchFamily="34" charset="-120"/>
              </a:rPr>
              <a:t>⚙️</a:t>
            </a:r>
            <a:r>
              <a:rPr lang="en-US" sz="1650" b="1" dirty="0">
                <a:solidFill>
                  <a:srgbClr val="C2C4B5"/>
                </a:solidFill>
                <a:latin typeface="Outfit Bold" pitchFamily="34" charset="0"/>
                <a:ea typeface="Outfit Bold" pitchFamily="34" charset="-122"/>
                <a:cs typeface="Outfit Bold" pitchFamily="34" charset="-120"/>
              </a:rPr>
              <a:t> Preprocessing Steps</a:t>
            </a:r>
            <a:endParaRPr lang="en-US" sz="1650" dirty="0"/>
          </a:p>
        </p:txBody>
      </p:sp>
      <p:sp>
        <p:nvSpPr>
          <p:cNvPr id="7" name="Text 5"/>
          <p:cNvSpPr/>
          <p:nvPr/>
        </p:nvSpPr>
        <p:spPr>
          <a:xfrm>
            <a:off x="986671" y="3504486"/>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C2C4B5"/>
                </a:solidFill>
                <a:latin typeface="Bitter" pitchFamily="34" charset="0"/>
                <a:ea typeface="Bitter" pitchFamily="34" charset="-122"/>
                <a:cs typeface="Bitter" pitchFamily="34" charset="-120"/>
              </a:rPr>
              <a:t>Images were uniformly resized to </a:t>
            </a:r>
            <a:r>
              <a:rPr lang="en-US" sz="1300" b="1" dirty="0">
                <a:solidFill>
                  <a:srgbClr val="C2C4B5"/>
                </a:solidFill>
                <a:latin typeface="Bitter" pitchFamily="34" charset="0"/>
                <a:ea typeface="Bitter" pitchFamily="34" charset="-122"/>
                <a:cs typeface="Bitter" pitchFamily="34" charset="-120"/>
              </a:rPr>
              <a:t>224x224 pixels</a:t>
            </a:r>
            <a:r>
              <a:rPr lang="en-US" sz="1300" dirty="0">
                <a:solidFill>
                  <a:srgbClr val="C2C4B5"/>
                </a:solidFill>
                <a:latin typeface="Bitter" pitchFamily="34" charset="0"/>
                <a:ea typeface="Bitter" pitchFamily="34" charset="-122"/>
                <a:cs typeface="Bitter" pitchFamily="34" charset="-120"/>
              </a:rPr>
              <a:t> for consistent input.</a:t>
            </a:r>
            <a:endParaRPr lang="en-US" sz="1300" dirty="0"/>
          </a:p>
        </p:txBody>
      </p:sp>
      <p:sp>
        <p:nvSpPr>
          <p:cNvPr id="8" name="Text 6"/>
          <p:cNvSpPr/>
          <p:nvPr/>
        </p:nvSpPr>
        <p:spPr>
          <a:xfrm>
            <a:off x="986671" y="3836194"/>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C2C4B5"/>
                </a:solidFill>
                <a:latin typeface="Bitter" pitchFamily="34" charset="0"/>
                <a:ea typeface="Bitter" pitchFamily="34" charset="-122"/>
                <a:cs typeface="Bitter" pitchFamily="34" charset="-120"/>
              </a:rPr>
              <a:t>Pixel values were normalized to a </a:t>
            </a:r>
            <a:r>
              <a:rPr lang="en-US" sz="1300" b="1" dirty="0">
                <a:solidFill>
                  <a:srgbClr val="C2C4B5"/>
                </a:solidFill>
                <a:latin typeface="Bitter" pitchFamily="34" charset="0"/>
                <a:ea typeface="Bitter" pitchFamily="34" charset="-122"/>
                <a:cs typeface="Bitter" pitchFamily="34" charset="-120"/>
              </a:rPr>
              <a:t>[0, 1] range</a:t>
            </a:r>
            <a:r>
              <a:rPr lang="en-US" sz="1300" dirty="0">
                <a:solidFill>
                  <a:srgbClr val="C2C4B5"/>
                </a:solidFill>
                <a:latin typeface="Bitter" pitchFamily="34" charset="0"/>
                <a:ea typeface="Bitter" pitchFamily="34" charset="-122"/>
                <a:cs typeface="Bitter" pitchFamily="34" charset="-120"/>
              </a:rPr>
              <a:t>.</a:t>
            </a:r>
            <a:endParaRPr lang="en-US" sz="1300" dirty="0"/>
          </a:p>
        </p:txBody>
      </p:sp>
      <p:sp>
        <p:nvSpPr>
          <p:cNvPr id="9" name="Text 7"/>
          <p:cNvSpPr/>
          <p:nvPr/>
        </p:nvSpPr>
        <p:spPr>
          <a:xfrm>
            <a:off x="986671" y="4167902"/>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C2C4B5"/>
                </a:solidFill>
                <a:latin typeface="Bitter" pitchFamily="34" charset="0"/>
                <a:ea typeface="Bitter" pitchFamily="34" charset="-122"/>
                <a:cs typeface="Bitter" pitchFamily="34" charset="-120"/>
              </a:rPr>
              <a:t>Dataset split: </a:t>
            </a:r>
            <a:r>
              <a:rPr lang="en-US" sz="1300" b="1" dirty="0">
                <a:solidFill>
                  <a:srgbClr val="C2C4B5"/>
                </a:solidFill>
                <a:latin typeface="Bitter" pitchFamily="34" charset="0"/>
                <a:ea typeface="Bitter" pitchFamily="34" charset="-122"/>
                <a:cs typeface="Bitter" pitchFamily="34" charset="-120"/>
              </a:rPr>
              <a:t>85% for training</a:t>
            </a:r>
            <a:r>
              <a:rPr lang="en-US" sz="1300" dirty="0">
                <a:solidFill>
                  <a:srgbClr val="C2C4B5"/>
                </a:solidFill>
                <a:latin typeface="Bitter" pitchFamily="34" charset="0"/>
                <a:ea typeface="Bitter" pitchFamily="34" charset="-122"/>
                <a:cs typeface="Bitter" pitchFamily="34" charset="-120"/>
              </a:rPr>
              <a:t> and </a:t>
            </a:r>
            <a:r>
              <a:rPr lang="en-US" sz="1300" b="1" dirty="0">
                <a:solidFill>
                  <a:srgbClr val="C2C4B5"/>
                </a:solidFill>
                <a:latin typeface="Bitter" pitchFamily="34" charset="0"/>
                <a:ea typeface="Bitter" pitchFamily="34" charset="-122"/>
                <a:cs typeface="Bitter" pitchFamily="34" charset="-120"/>
              </a:rPr>
              <a:t>15% for validation</a:t>
            </a:r>
            <a:r>
              <a:rPr lang="en-US" sz="1300" dirty="0">
                <a:solidFill>
                  <a:srgbClr val="C2C4B5"/>
                </a:solidFill>
                <a:latin typeface="Bitter" pitchFamily="34" charset="0"/>
                <a:ea typeface="Bitter" pitchFamily="34" charset="-122"/>
                <a:cs typeface="Bitter" pitchFamily="34" charset="-120"/>
              </a:rPr>
              <a:t>.</a:t>
            </a:r>
            <a:endParaRPr lang="en-US" sz="1300" dirty="0"/>
          </a:p>
        </p:txBody>
      </p:sp>
      <p:sp>
        <p:nvSpPr>
          <p:cNvPr id="10" name="Shape 8"/>
          <p:cNvSpPr/>
          <p:nvPr/>
        </p:nvSpPr>
        <p:spPr>
          <a:xfrm>
            <a:off x="7400211" y="2425898"/>
            <a:ext cx="6436400" cy="2810947"/>
          </a:xfrm>
          <a:prstGeom prst="roundRect">
            <a:avLst>
              <a:gd name="adj" fmla="val 908"/>
            </a:avLst>
          </a:prstGeom>
          <a:solidFill>
            <a:srgbClr val="1C1D1F"/>
          </a:solidFill>
          <a:ln w="22860">
            <a:solidFill>
              <a:srgbClr val="545557"/>
            </a:solidFill>
            <a:prstDash val="solid"/>
          </a:ln>
        </p:spPr>
      </p:sp>
      <p:sp>
        <p:nvSpPr>
          <p:cNvPr id="11" name="Shape 9"/>
          <p:cNvSpPr/>
          <p:nvPr/>
        </p:nvSpPr>
        <p:spPr>
          <a:xfrm>
            <a:off x="7423071" y="2448758"/>
            <a:ext cx="6390680" cy="510302"/>
          </a:xfrm>
          <a:prstGeom prst="rect">
            <a:avLst/>
          </a:prstGeom>
          <a:solidFill>
            <a:srgbClr val="3B3C3E"/>
          </a:solidFill>
          <a:ln/>
        </p:spPr>
      </p:sp>
      <p:sp>
        <p:nvSpPr>
          <p:cNvPr id="12" name="Text 10"/>
          <p:cNvSpPr/>
          <p:nvPr/>
        </p:nvSpPr>
        <p:spPr>
          <a:xfrm>
            <a:off x="7593092" y="3129082"/>
            <a:ext cx="3585924" cy="273368"/>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Outfit Bold" pitchFamily="34" charset="0"/>
                <a:ea typeface="Outfit Bold" pitchFamily="34" charset="-122"/>
                <a:cs typeface="Outfit Bold" pitchFamily="34" charset="-120"/>
              </a:rPr>
              <a:t>🎯</a:t>
            </a:r>
            <a:r>
              <a:rPr lang="en-US" sz="1650" b="1" dirty="0">
                <a:solidFill>
                  <a:srgbClr val="C2C4B5"/>
                </a:solidFill>
                <a:latin typeface="Outfit Bold" pitchFamily="34" charset="0"/>
                <a:ea typeface="Outfit Bold" pitchFamily="34" charset="-122"/>
                <a:cs typeface="Outfit Bold" pitchFamily="34" charset="-120"/>
              </a:rPr>
              <a:t> Critical Augmentation Techniques</a:t>
            </a:r>
            <a:endParaRPr lang="en-US" sz="1650" dirty="0"/>
          </a:p>
        </p:txBody>
      </p:sp>
      <p:sp>
        <p:nvSpPr>
          <p:cNvPr id="13" name="Text 11"/>
          <p:cNvSpPr/>
          <p:nvPr/>
        </p:nvSpPr>
        <p:spPr>
          <a:xfrm>
            <a:off x="7593092" y="3504486"/>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Rotation:</a:t>
            </a:r>
            <a:r>
              <a:rPr lang="en-US" sz="1300" dirty="0">
                <a:solidFill>
                  <a:srgbClr val="C2C4B5"/>
                </a:solidFill>
                <a:latin typeface="Bitter" pitchFamily="34" charset="0"/>
                <a:ea typeface="Bitter" pitchFamily="34" charset="-122"/>
                <a:cs typeface="Bitter" pitchFamily="34" charset="-120"/>
              </a:rPr>
              <a:t> Random rotations up to </a:t>
            </a:r>
            <a:r>
              <a:rPr lang="en-US" sz="1300" b="1" dirty="0">
                <a:solidFill>
                  <a:srgbClr val="C2C4B5"/>
                </a:solidFill>
                <a:latin typeface="Bitter" pitchFamily="34" charset="0"/>
                <a:ea typeface="Bitter" pitchFamily="34" charset="-122"/>
                <a:cs typeface="Bitter" pitchFamily="34" charset="-120"/>
              </a:rPr>
              <a:t>30°</a:t>
            </a:r>
            <a:r>
              <a:rPr lang="en-US" sz="1300" dirty="0">
                <a:solidFill>
                  <a:srgbClr val="C2C4B5"/>
                </a:solidFill>
                <a:latin typeface="Bitter" pitchFamily="34" charset="0"/>
                <a:ea typeface="Bitter" pitchFamily="34" charset="-122"/>
                <a:cs typeface="Bitter" pitchFamily="34" charset="-120"/>
              </a:rPr>
              <a:t> to simulate various viewing angles.</a:t>
            </a:r>
            <a:endParaRPr lang="en-US" sz="1300" dirty="0"/>
          </a:p>
        </p:txBody>
      </p:sp>
      <p:sp>
        <p:nvSpPr>
          <p:cNvPr id="14" name="Text 12"/>
          <p:cNvSpPr/>
          <p:nvPr/>
        </p:nvSpPr>
        <p:spPr>
          <a:xfrm>
            <a:off x="7593092" y="3836194"/>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Zoom:</a:t>
            </a:r>
            <a:r>
              <a:rPr lang="en-US" sz="1300" dirty="0">
                <a:solidFill>
                  <a:srgbClr val="C2C4B5"/>
                </a:solidFill>
                <a:latin typeface="Bitter" pitchFamily="34" charset="0"/>
                <a:ea typeface="Bitter" pitchFamily="34" charset="-122"/>
                <a:cs typeface="Bitter" pitchFamily="34" charset="-120"/>
              </a:rPr>
              <a:t> Random zooms of up to </a:t>
            </a:r>
            <a:r>
              <a:rPr lang="en-US" sz="1300" b="1" dirty="0">
                <a:solidFill>
                  <a:srgbClr val="C2C4B5"/>
                </a:solidFill>
                <a:latin typeface="Bitter" pitchFamily="34" charset="0"/>
                <a:ea typeface="Bitter" pitchFamily="34" charset="-122"/>
                <a:cs typeface="Bitter" pitchFamily="34" charset="-120"/>
              </a:rPr>
              <a:t>20%</a:t>
            </a:r>
            <a:r>
              <a:rPr lang="en-US" sz="1300" dirty="0">
                <a:solidFill>
                  <a:srgbClr val="C2C4B5"/>
                </a:solidFill>
                <a:latin typeface="Bitter" pitchFamily="34" charset="0"/>
                <a:ea typeface="Bitter" pitchFamily="34" charset="-122"/>
                <a:cs typeface="Bitter" pitchFamily="34" charset="-120"/>
              </a:rPr>
              <a:t> to account for distance variations.</a:t>
            </a:r>
            <a:endParaRPr lang="en-US" sz="1300" dirty="0"/>
          </a:p>
        </p:txBody>
      </p:sp>
      <p:sp>
        <p:nvSpPr>
          <p:cNvPr id="15" name="Text 13"/>
          <p:cNvSpPr/>
          <p:nvPr/>
        </p:nvSpPr>
        <p:spPr>
          <a:xfrm>
            <a:off x="7593092" y="4167902"/>
            <a:ext cx="6050637" cy="544354"/>
          </a:xfrm>
          <a:prstGeom prst="rect">
            <a:avLst/>
          </a:prstGeom>
          <a:noFill/>
          <a:ln/>
        </p:spPr>
        <p:txBody>
          <a:bodyPr wrap="squar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Brightness:</a:t>
            </a:r>
            <a:r>
              <a:rPr lang="en-US" sz="1300" dirty="0">
                <a:solidFill>
                  <a:srgbClr val="C2C4B5"/>
                </a:solidFill>
                <a:latin typeface="Bitter" pitchFamily="34" charset="0"/>
                <a:ea typeface="Bitter" pitchFamily="34" charset="-122"/>
                <a:cs typeface="Bitter" pitchFamily="34" charset="-120"/>
              </a:rPr>
              <a:t> Adjustments in the </a:t>
            </a:r>
            <a:r>
              <a:rPr lang="en-US" sz="1300" b="1" dirty="0">
                <a:solidFill>
                  <a:srgbClr val="C2C4B5"/>
                </a:solidFill>
                <a:latin typeface="Bitter" pitchFamily="34" charset="0"/>
                <a:ea typeface="Bitter" pitchFamily="34" charset="-122"/>
                <a:cs typeface="Bitter" pitchFamily="34" charset="-120"/>
              </a:rPr>
              <a:t>[0.7, 1.3]</a:t>
            </a:r>
            <a:r>
              <a:rPr lang="en-US" sz="1300" dirty="0">
                <a:solidFill>
                  <a:srgbClr val="C2C4B5"/>
                </a:solidFill>
                <a:latin typeface="Bitter" pitchFamily="34" charset="0"/>
                <a:ea typeface="Bitter" pitchFamily="34" charset="-122"/>
                <a:cs typeface="Bitter" pitchFamily="34" charset="-120"/>
              </a:rPr>
              <a:t> range for different lighting conditions.</a:t>
            </a:r>
            <a:endParaRPr lang="en-US" sz="1300" dirty="0"/>
          </a:p>
        </p:txBody>
      </p:sp>
      <p:sp>
        <p:nvSpPr>
          <p:cNvPr id="16" name="Text 14"/>
          <p:cNvSpPr/>
          <p:nvPr/>
        </p:nvSpPr>
        <p:spPr>
          <a:xfrm>
            <a:off x="7593092" y="4771787"/>
            <a:ext cx="605063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Flips:</a:t>
            </a:r>
            <a:r>
              <a:rPr lang="en-US" sz="1300" dirty="0">
                <a:solidFill>
                  <a:srgbClr val="C2C4B5"/>
                </a:solidFill>
                <a:latin typeface="Bitter" pitchFamily="34" charset="0"/>
                <a:ea typeface="Bitter" pitchFamily="34" charset="-122"/>
                <a:cs typeface="Bitter" pitchFamily="34" charset="-120"/>
              </a:rPr>
              <a:t> Both </a:t>
            </a:r>
            <a:r>
              <a:rPr lang="en-US" sz="1300" b="1" dirty="0">
                <a:solidFill>
                  <a:srgbClr val="C2C4B5"/>
                </a:solidFill>
                <a:latin typeface="Bitter" pitchFamily="34" charset="0"/>
                <a:ea typeface="Bitter" pitchFamily="34" charset="-122"/>
                <a:cs typeface="Bitter" pitchFamily="34" charset="-120"/>
              </a:rPr>
              <a:t>horizontal &amp; vertical flips</a:t>
            </a:r>
            <a:r>
              <a:rPr lang="en-US" sz="1300" dirty="0">
                <a:solidFill>
                  <a:srgbClr val="C2C4B5"/>
                </a:solidFill>
                <a:latin typeface="Bitter" pitchFamily="34" charset="0"/>
                <a:ea typeface="Bitter" pitchFamily="34" charset="-122"/>
                <a:cs typeface="Bitter" pitchFamily="34" charset="-120"/>
              </a:rPr>
              <a:t> to increase dataset diversity.</a:t>
            </a:r>
            <a:endParaRPr lang="en-US" sz="1300" dirty="0"/>
          </a:p>
        </p:txBody>
      </p:sp>
      <p:sp>
        <p:nvSpPr>
          <p:cNvPr id="17" name="Text 15"/>
          <p:cNvSpPr/>
          <p:nvPr/>
        </p:nvSpPr>
        <p:spPr>
          <a:xfrm>
            <a:off x="1048941" y="5683329"/>
            <a:ext cx="5533549" cy="273368"/>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Outfit Bold" pitchFamily="34" charset="0"/>
                <a:ea typeface="Outfit Bold" pitchFamily="34" charset="-122"/>
                <a:cs typeface="Outfit Bold" pitchFamily="34" charset="-120"/>
              </a:rPr>
              <a:t>💡</a:t>
            </a:r>
            <a:r>
              <a:rPr lang="en-US" sz="1650" b="1" dirty="0">
                <a:solidFill>
                  <a:srgbClr val="E1E5CD"/>
                </a:solidFill>
                <a:latin typeface="Outfit Bold" pitchFamily="34" charset="0"/>
                <a:ea typeface="Outfit Bold" pitchFamily="34" charset="-122"/>
                <a:cs typeface="Outfit Bold" pitchFamily="34" charset="-120"/>
              </a:rPr>
              <a:t> Rationale: Breaking Lab Bias &amp; Preventing Overfitting</a:t>
            </a:r>
            <a:endParaRPr lang="en-US" sz="1650" dirty="0"/>
          </a:p>
        </p:txBody>
      </p:sp>
      <p:sp>
        <p:nvSpPr>
          <p:cNvPr id="18" name="Text 16"/>
          <p:cNvSpPr/>
          <p:nvPr/>
        </p:nvSpPr>
        <p:spPr>
          <a:xfrm>
            <a:off x="1048941" y="6211848"/>
            <a:ext cx="12787670"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The extensive augmentation strategy was designed to force the model to focus on intrinsic disease features rather than extraneous background context or controlled lab settings. This significantly improves the model's ability to generalize to real-world conditions.</a:t>
            </a:r>
            <a:endParaRPr lang="en-US" sz="1300" dirty="0"/>
          </a:p>
        </p:txBody>
      </p:sp>
      <p:sp>
        <p:nvSpPr>
          <p:cNvPr id="19" name="Text 17"/>
          <p:cNvSpPr/>
          <p:nvPr/>
        </p:nvSpPr>
        <p:spPr>
          <a:xfrm>
            <a:off x="1048941" y="6947535"/>
            <a:ext cx="12787670" cy="272177"/>
          </a:xfrm>
          <a:prstGeom prst="rect">
            <a:avLst/>
          </a:prstGeom>
          <a:noFill/>
          <a:ln/>
        </p:spPr>
        <p:txBody>
          <a:bodyPr wrap="none" lIns="0" tIns="0" rIns="0" bIns="0" rtlCol="0" anchor="t"/>
          <a:lstStyle/>
          <a:p>
            <a:pPr marL="0" indent="0" algn="l">
              <a:lnSpc>
                <a:spcPts val="2100"/>
              </a:lnSpc>
              <a:buNone/>
            </a:pPr>
            <a:r>
              <a:rPr lang="en-US" sz="1300" b="1" dirty="0">
                <a:solidFill>
                  <a:srgbClr val="C2C4B5"/>
                </a:solidFill>
                <a:latin typeface="Bitter" pitchFamily="34" charset="0"/>
                <a:ea typeface="Bitter" pitchFamily="34" charset="-122"/>
                <a:cs typeface="Bitter" pitchFamily="34" charset="-120"/>
              </a:rPr>
              <a:t>Result:</a:t>
            </a:r>
            <a:r>
              <a:rPr lang="en-US" sz="1300" dirty="0">
                <a:solidFill>
                  <a:srgbClr val="C2C4B5"/>
                </a:solidFill>
                <a:latin typeface="Bitter" pitchFamily="34" charset="0"/>
                <a:ea typeface="Bitter" pitchFamily="34" charset="-122"/>
                <a:cs typeface="Bitter" pitchFamily="34" charset="-120"/>
              </a:rPr>
              <a:t> This approach led to a substantial </a:t>
            </a:r>
            <a:r>
              <a:rPr lang="en-US" sz="1300" b="1" dirty="0">
                <a:solidFill>
                  <a:srgbClr val="C2C4B5"/>
                </a:solidFill>
                <a:latin typeface="Bitter" pitchFamily="34" charset="0"/>
                <a:ea typeface="Bitter" pitchFamily="34" charset="-122"/>
                <a:cs typeface="Bitter" pitchFamily="34" charset="-120"/>
              </a:rPr>
              <a:t>+12% accuracy gain</a:t>
            </a:r>
            <a:r>
              <a:rPr lang="en-US" sz="1300" dirty="0">
                <a:solidFill>
                  <a:srgbClr val="C2C4B5"/>
                </a:solidFill>
                <a:latin typeface="Bitter" pitchFamily="34" charset="0"/>
                <a:ea typeface="Bitter" pitchFamily="34" charset="-122"/>
                <a:cs typeface="Bitter" pitchFamily="34" charset="-120"/>
              </a:rPr>
              <a:t>, improving performance from 78% to a robust 90.35%.</a:t>
            </a:r>
            <a:endParaRPr lang="en-US" sz="1300" dirty="0"/>
          </a:p>
        </p:txBody>
      </p:sp>
      <p:sp>
        <p:nvSpPr>
          <p:cNvPr id="20" name="Shape 18"/>
          <p:cNvSpPr/>
          <p:nvPr/>
        </p:nvSpPr>
        <p:spPr>
          <a:xfrm>
            <a:off x="793790" y="5428178"/>
            <a:ext cx="22860" cy="1982867"/>
          </a:xfrm>
          <a:prstGeom prst="rect">
            <a:avLst/>
          </a:prstGeom>
          <a:solidFill>
            <a:srgbClr val="9FA582"/>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70692"/>
            <a:ext cx="11746230" cy="531614"/>
          </a:xfrm>
          <a:prstGeom prst="rect">
            <a:avLst/>
          </a:prstGeom>
          <a:noFill/>
          <a:ln/>
        </p:spPr>
        <p:txBody>
          <a:bodyPr wrap="none" lIns="0" tIns="0" rIns="0" bIns="0" rtlCol="0" anchor="t"/>
          <a:lstStyle/>
          <a:p>
            <a:pPr marL="0" indent="0" algn="l">
              <a:lnSpc>
                <a:spcPts val="4150"/>
              </a:lnSpc>
              <a:buNone/>
            </a:pPr>
            <a:r>
              <a:rPr lang="en-US" sz="3300" b="1" dirty="0">
                <a:solidFill>
                  <a:srgbClr val="E1E5CD"/>
                </a:solidFill>
                <a:latin typeface="Outfit Bold" pitchFamily="34" charset="0"/>
                <a:ea typeface="Outfit Bold" pitchFamily="34" charset="-122"/>
                <a:cs typeface="Outfit Bold" pitchFamily="34" charset="-120"/>
              </a:rPr>
              <a:t>Phase 4: Modeling Architecture - MobileNetV2 for Efficiency</a:t>
            </a:r>
            <a:endParaRPr lang="en-US" sz="3300" dirty="0"/>
          </a:p>
        </p:txBody>
      </p:sp>
      <p:sp>
        <p:nvSpPr>
          <p:cNvPr id="3" name="Text 1"/>
          <p:cNvSpPr/>
          <p:nvPr/>
        </p:nvSpPr>
        <p:spPr>
          <a:xfrm>
            <a:off x="793790" y="1642467"/>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For our core modeling architecture, we selected MobileNetV2 due to its exceptional balance of performance and computational efficiency, making it ideal for mobile and edge deployment scenarios.</a:t>
            </a:r>
            <a:endParaRPr lang="en-US" sz="1300" dirty="0"/>
          </a:p>
        </p:txBody>
      </p:sp>
      <p:sp>
        <p:nvSpPr>
          <p:cNvPr id="4" name="Shape 2"/>
          <p:cNvSpPr/>
          <p:nvPr/>
        </p:nvSpPr>
        <p:spPr>
          <a:xfrm>
            <a:off x="793790" y="2378154"/>
            <a:ext cx="6436400" cy="2697956"/>
          </a:xfrm>
          <a:prstGeom prst="roundRect">
            <a:avLst>
              <a:gd name="adj" fmla="val 946"/>
            </a:avLst>
          </a:prstGeom>
          <a:solidFill>
            <a:srgbClr val="3B3C3E"/>
          </a:solidFill>
          <a:ln/>
        </p:spPr>
      </p:sp>
      <p:sp>
        <p:nvSpPr>
          <p:cNvPr id="5" name="Shape 3"/>
          <p:cNvSpPr/>
          <p:nvPr/>
        </p:nvSpPr>
        <p:spPr>
          <a:xfrm>
            <a:off x="963811" y="2548176"/>
            <a:ext cx="510302" cy="510302"/>
          </a:xfrm>
          <a:prstGeom prst="roundRect">
            <a:avLst>
              <a:gd name="adj" fmla="val 17917009"/>
            </a:avLst>
          </a:prstGeom>
          <a:solidFill>
            <a:srgbClr val="9FA582"/>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186" y="2688431"/>
            <a:ext cx="229553" cy="229552"/>
          </a:xfrm>
          <a:prstGeom prst="rect">
            <a:avLst/>
          </a:prstGeom>
        </p:spPr>
      </p:pic>
      <p:sp>
        <p:nvSpPr>
          <p:cNvPr id="7" name="Text 4"/>
          <p:cNvSpPr/>
          <p:nvPr/>
        </p:nvSpPr>
        <p:spPr>
          <a:xfrm>
            <a:off x="963811" y="3228499"/>
            <a:ext cx="2126456" cy="273368"/>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Outfit Bold" pitchFamily="34" charset="0"/>
                <a:ea typeface="Outfit Bold" pitchFamily="34" charset="-122"/>
                <a:cs typeface="Outfit Bold" pitchFamily="34" charset="-120"/>
              </a:rPr>
              <a:t>🏆</a:t>
            </a:r>
            <a:r>
              <a:rPr lang="en-US" sz="1650" b="1" dirty="0">
                <a:solidFill>
                  <a:srgbClr val="C2C4B5"/>
                </a:solidFill>
                <a:latin typeface="Outfit Bold" pitchFamily="34" charset="0"/>
                <a:ea typeface="Outfit Bold" pitchFamily="34" charset="-122"/>
                <a:cs typeface="Outfit Bold" pitchFamily="34" charset="-120"/>
              </a:rPr>
              <a:t> MobileNetV2</a:t>
            </a:r>
            <a:endParaRPr lang="en-US" sz="1650" dirty="0"/>
          </a:p>
        </p:txBody>
      </p:sp>
      <p:sp>
        <p:nvSpPr>
          <p:cNvPr id="8" name="Text 5"/>
          <p:cNvSpPr/>
          <p:nvPr/>
        </p:nvSpPr>
        <p:spPr>
          <a:xfrm>
            <a:off x="963811" y="3603903"/>
            <a:ext cx="6096357" cy="816531"/>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Leveraged </a:t>
            </a:r>
            <a:r>
              <a:rPr lang="en-US" sz="1300" b="1" dirty="0">
                <a:solidFill>
                  <a:srgbClr val="C2C4B5"/>
                </a:solidFill>
                <a:latin typeface="Bitter" pitchFamily="34" charset="0"/>
                <a:ea typeface="Bitter" pitchFamily="34" charset="-122"/>
                <a:cs typeface="Bitter" pitchFamily="34" charset="-120"/>
              </a:rPr>
              <a:t>pre-trained weights from ImageNet</a:t>
            </a:r>
            <a:r>
              <a:rPr lang="en-US" sz="1300" dirty="0">
                <a:solidFill>
                  <a:srgbClr val="C2C4B5"/>
                </a:solidFill>
                <a:latin typeface="Bitter" pitchFamily="34" charset="0"/>
                <a:ea typeface="Bitter" pitchFamily="34" charset="-122"/>
                <a:cs typeface="Bitter" pitchFamily="34" charset="-120"/>
              </a:rPr>
              <a:t> (frozen layers) for faster convergence and transfer learning. This model's compact size (11 MB) is a significant advantage over larger architectures like VGG (528 MB).</a:t>
            </a:r>
            <a:endParaRPr lang="en-US" sz="1300" dirty="0"/>
          </a:p>
        </p:txBody>
      </p:sp>
      <p:sp>
        <p:nvSpPr>
          <p:cNvPr id="9" name="Shape 6"/>
          <p:cNvSpPr/>
          <p:nvPr/>
        </p:nvSpPr>
        <p:spPr>
          <a:xfrm>
            <a:off x="7400211" y="2378154"/>
            <a:ext cx="6436400" cy="2697956"/>
          </a:xfrm>
          <a:prstGeom prst="roundRect">
            <a:avLst>
              <a:gd name="adj" fmla="val 946"/>
            </a:avLst>
          </a:prstGeom>
          <a:solidFill>
            <a:srgbClr val="3B3C3E"/>
          </a:solidFill>
          <a:ln/>
        </p:spPr>
      </p:sp>
      <p:sp>
        <p:nvSpPr>
          <p:cNvPr id="10" name="Shape 7"/>
          <p:cNvSpPr/>
          <p:nvPr/>
        </p:nvSpPr>
        <p:spPr>
          <a:xfrm>
            <a:off x="7570232" y="2548176"/>
            <a:ext cx="510302" cy="510302"/>
          </a:xfrm>
          <a:prstGeom prst="roundRect">
            <a:avLst>
              <a:gd name="adj" fmla="val 17917009"/>
            </a:avLst>
          </a:prstGeom>
          <a:solidFill>
            <a:srgbClr val="9FA582"/>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10607" y="2688431"/>
            <a:ext cx="229553" cy="229552"/>
          </a:xfrm>
          <a:prstGeom prst="rect">
            <a:avLst/>
          </a:prstGeom>
        </p:spPr>
      </p:pic>
      <p:sp>
        <p:nvSpPr>
          <p:cNvPr id="12" name="Text 8"/>
          <p:cNvSpPr/>
          <p:nvPr/>
        </p:nvSpPr>
        <p:spPr>
          <a:xfrm>
            <a:off x="7570232" y="3228499"/>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Custom Layers</a:t>
            </a:r>
            <a:endParaRPr lang="en-US" sz="1650" dirty="0"/>
          </a:p>
        </p:txBody>
      </p:sp>
      <p:sp>
        <p:nvSpPr>
          <p:cNvPr id="13" name="Text 9"/>
          <p:cNvSpPr/>
          <p:nvPr/>
        </p:nvSpPr>
        <p:spPr>
          <a:xfrm>
            <a:off x="7570232" y="3596283"/>
            <a:ext cx="6096357"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Added custom layers for classification:</a:t>
            </a:r>
            <a:endParaRPr lang="en-US" sz="1300" dirty="0"/>
          </a:p>
        </p:txBody>
      </p:sp>
      <p:sp>
        <p:nvSpPr>
          <p:cNvPr id="14" name="Text 10"/>
          <p:cNvSpPr/>
          <p:nvPr/>
        </p:nvSpPr>
        <p:spPr>
          <a:xfrm>
            <a:off x="7570232" y="3970496"/>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GlobalAveragePooling2D:</a:t>
            </a:r>
            <a:r>
              <a:rPr lang="en-US" sz="1300" dirty="0">
                <a:solidFill>
                  <a:srgbClr val="C2C4B5"/>
                </a:solidFill>
                <a:latin typeface="Bitter" pitchFamily="34" charset="0"/>
                <a:ea typeface="Bitter" pitchFamily="34" charset="-122"/>
                <a:cs typeface="Bitter" pitchFamily="34" charset="-120"/>
              </a:rPr>
              <a:t> Reduces feature map dimensions.</a:t>
            </a:r>
            <a:endParaRPr lang="en-US" sz="1300" dirty="0"/>
          </a:p>
        </p:txBody>
      </p:sp>
      <p:sp>
        <p:nvSpPr>
          <p:cNvPr id="15" name="Text 11"/>
          <p:cNvSpPr/>
          <p:nvPr/>
        </p:nvSpPr>
        <p:spPr>
          <a:xfrm>
            <a:off x="7570232" y="4302204"/>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Dense(128, ReLU):</a:t>
            </a:r>
            <a:r>
              <a:rPr lang="en-US" sz="1300" dirty="0">
                <a:solidFill>
                  <a:srgbClr val="C2C4B5"/>
                </a:solidFill>
                <a:latin typeface="Bitter" pitchFamily="34" charset="0"/>
                <a:ea typeface="Bitter" pitchFamily="34" charset="-122"/>
                <a:cs typeface="Bitter" pitchFamily="34" charset="-120"/>
              </a:rPr>
              <a:t> Fully connected layer with ReLU activation.</a:t>
            </a:r>
            <a:endParaRPr lang="en-US" sz="1300" dirty="0"/>
          </a:p>
        </p:txBody>
      </p:sp>
      <p:sp>
        <p:nvSpPr>
          <p:cNvPr id="16" name="Text 12"/>
          <p:cNvSpPr/>
          <p:nvPr/>
        </p:nvSpPr>
        <p:spPr>
          <a:xfrm>
            <a:off x="7570232" y="4633913"/>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Dropout(0.3):</a:t>
            </a:r>
            <a:r>
              <a:rPr lang="en-US" sz="1300" dirty="0">
                <a:solidFill>
                  <a:srgbClr val="C2C4B5"/>
                </a:solidFill>
                <a:latin typeface="Bitter" pitchFamily="34" charset="0"/>
                <a:ea typeface="Bitter" pitchFamily="34" charset="-122"/>
                <a:cs typeface="Bitter" pitchFamily="34" charset="-120"/>
              </a:rPr>
              <a:t> Regularization to prevent overfitting.</a:t>
            </a:r>
            <a:endParaRPr lang="en-US" sz="1300" dirty="0"/>
          </a:p>
        </p:txBody>
      </p:sp>
      <p:sp>
        <p:nvSpPr>
          <p:cNvPr id="17" name="Text 13"/>
          <p:cNvSpPr/>
          <p:nvPr/>
        </p:nvSpPr>
        <p:spPr>
          <a:xfrm>
            <a:off x="793790" y="5331262"/>
            <a:ext cx="2521744" cy="273368"/>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Outfit Bold" pitchFamily="34" charset="0"/>
                <a:ea typeface="Outfit Bold" pitchFamily="34" charset="-122"/>
                <a:cs typeface="Outfit Bold" pitchFamily="34" charset="-120"/>
              </a:rPr>
              <a:t>⚙️</a:t>
            </a:r>
            <a:r>
              <a:rPr lang="en-US" sz="1650" b="1" dirty="0">
                <a:solidFill>
                  <a:srgbClr val="E1E5CD"/>
                </a:solidFill>
                <a:latin typeface="Outfit Bold" pitchFamily="34" charset="0"/>
                <a:ea typeface="Outfit Bold" pitchFamily="34" charset="-122"/>
                <a:cs typeface="Outfit Bold" pitchFamily="34" charset="-120"/>
              </a:rPr>
              <a:t> Training Configuration</a:t>
            </a:r>
            <a:endParaRPr lang="en-US" sz="1650" dirty="0"/>
          </a:p>
        </p:txBody>
      </p:sp>
      <p:sp>
        <p:nvSpPr>
          <p:cNvPr id="18" name="Text 14"/>
          <p:cNvSpPr/>
          <p:nvPr/>
        </p:nvSpPr>
        <p:spPr>
          <a:xfrm>
            <a:off x="793790" y="5859780"/>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Optimizer:</a:t>
            </a:r>
            <a:r>
              <a:rPr lang="en-US" sz="1300" dirty="0">
                <a:solidFill>
                  <a:srgbClr val="C2C4B5"/>
                </a:solidFill>
                <a:latin typeface="Bitter" pitchFamily="34" charset="0"/>
                <a:ea typeface="Bitter" pitchFamily="34" charset="-122"/>
                <a:cs typeface="Bitter" pitchFamily="34" charset="-120"/>
              </a:rPr>
              <a:t> Adam, starting with a Learning Rate (LR) of 0.001, adjusted with ReduceLROnPlateau.</a:t>
            </a:r>
            <a:endParaRPr lang="en-US" sz="1300" dirty="0"/>
          </a:p>
        </p:txBody>
      </p:sp>
      <p:sp>
        <p:nvSpPr>
          <p:cNvPr id="19" name="Text 15"/>
          <p:cNvSpPr/>
          <p:nvPr/>
        </p:nvSpPr>
        <p:spPr>
          <a:xfrm>
            <a:off x="793790" y="6191488"/>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Loss Function:</a:t>
            </a:r>
            <a:r>
              <a:rPr lang="en-US" sz="1300" dirty="0">
                <a:solidFill>
                  <a:srgbClr val="C2C4B5"/>
                </a:solidFill>
                <a:latin typeface="Bitter" pitchFamily="34" charset="0"/>
                <a:ea typeface="Bitter" pitchFamily="34" charset="-122"/>
                <a:cs typeface="Bitter" pitchFamily="34" charset="-120"/>
              </a:rPr>
              <a:t> Categorical Crossentropy, suitable for multi-class classification.</a:t>
            </a:r>
            <a:endParaRPr lang="en-US" sz="1300" dirty="0"/>
          </a:p>
        </p:txBody>
      </p:sp>
      <p:sp>
        <p:nvSpPr>
          <p:cNvPr id="20" name="Text 16"/>
          <p:cNvSpPr/>
          <p:nvPr/>
        </p:nvSpPr>
        <p:spPr>
          <a:xfrm>
            <a:off x="793790" y="6523196"/>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Batch Size:</a:t>
            </a:r>
            <a:r>
              <a:rPr lang="en-US" sz="1300" dirty="0">
                <a:solidFill>
                  <a:srgbClr val="C2C4B5"/>
                </a:solidFill>
                <a:latin typeface="Bitter" pitchFamily="34" charset="0"/>
                <a:ea typeface="Bitter" pitchFamily="34" charset="-122"/>
                <a:cs typeface="Bitter" pitchFamily="34" charset="-120"/>
              </a:rPr>
              <a:t> 32, optimized for GPU memory and training speed.</a:t>
            </a:r>
            <a:endParaRPr lang="en-US" sz="1300" dirty="0"/>
          </a:p>
        </p:txBody>
      </p:sp>
      <p:sp>
        <p:nvSpPr>
          <p:cNvPr id="21" name="Text 17"/>
          <p:cNvSpPr/>
          <p:nvPr/>
        </p:nvSpPr>
        <p:spPr>
          <a:xfrm>
            <a:off x="793790" y="6854904"/>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Epochs:</a:t>
            </a:r>
            <a:r>
              <a:rPr lang="en-US" sz="1300" dirty="0">
                <a:solidFill>
                  <a:srgbClr val="C2C4B5"/>
                </a:solidFill>
                <a:latin typeface="Bitter" pitchFamily="34" charset="0"/>
                <a:ea typeface="Bitter" pitchFamily="34" charset="-122"/>
                <a:cs typeface="Bitter" pitchFamily="34" charset="-120"/>
              </a:rPr>
              <a:t> Trained for 15 epochs, with convergence observed around epoch 14.</a:t>
            </a:r>
            <a:endParaRPr lang="en-US" sz="1300" dirty="0"/>
          </a:p>
        </p:txBody>
      </p:sp>
      <p:sp>
        <p:nvSpPr>
          <p:cNvPr id="22" name="Text 18"/>
          <p:cNvSpPr/>
          <p:nvPr/>
        </p:nvSpPr>
        <p:spPr>
          <a:xfrm>
            <a:off x="793790" y="7186613"/>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C2C4B5"/>
                </a:solidFill>
                <a:latin typeface="Bitter" pitchFamily="34" charset="0"/>
                <a:ea typeface="Bitter" pitchFamily="34" charset="-122"/>
                <a:cs typeface="Bitter" pitchFamily="34" charset="-120"/>
              </a:rPr>
              <a:t>Callbacks:</a:t>
            </a:r>
            <a:r>
              <a:rPr lang="en-US" sz="1300" dirty="0">
                <a:solidFill>
                  <a:srgbClr val="C2C4B5"/>
                </a:solidFill>
                <a:latin typeface="Bitter" pitchFamily="34" charset="0"/>
                <a:ea typeface="Bitter" pitchFamily="34" charset="-122"/>
                <a:cs typeface="Bitter" pitchFamily="34" charset="-120"/>
              </a:rPr>
              <a:t> Implemented ModelCheckpoint for best model saving, EarlyStopping for optimal convergence, and TensorBoard for visualization.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312706"/>
          </a:xfrm>
          <a:prstGeom prst="rect">
            <a:avLst/>
          </a:prstGeom>
        </p:spPr>
      </p:pic>
      <p:sp>
        <p:nvSpPr>
          <p:cNvPr id="3" name="Text 0"/>
          <p:cNvSpPr/>
          <p:nvPr/>
        </p:nvSpPr>
        <p:spPr>
          <a:xfrm>
            <a:off x="396835" y="311825"/>
            <a:ext cx="4171950" cy="230386"/>
          </a:xfrm>
          <a:prstGeom prst="rect">
            <a:avLst/>
          </a:prstGeom>
          <a:noFill/>
          <a:ln/>
        </p:spPr>
        <p:txBody>
          <a:bodyPr wrap="none" lIns="0" tIns="0" rIns="0" bIns="0" rtlCol="0" anchor="t"/>
          <a:lstStyle/>
          <a:p>
            <a:pPr marL="0" indent="0" algn="l">
              <a:lnSpc>
                <a:spcPts val="1800"/>
              </a:lnSpc>
              <a:buNone/>
            </a:pPr>
            <a:r>
              <a:rPr lang="en-US" sz="1450" b="1" dirty="0">
                <a:solidFill>
                  <a:srgbClr val="E1E5CD"/>
                </a:solidFill>
                <a:latin typeface="Outfit Bold" pitchFamily="34" charset="0"/>
                <a:ea typeface="Outfit Bold" pitchFamily="34" charset="-122"/>
                <a:cs typeface="Outfit Bold" pitchFamily="34" charset="-120"/>
              </a:rPr>
              <a:t>Phase 5: Performance Metrics &amp; Achieved Targets</a:t>
            </a:r>
            <a:endParaRPr lang="en-US" sz="1450" dirty="0"/>
          </a:p>
        </p:txBody>
      </p:sp>
      <p:sp>
        <p:nvSpPr>
          <p:cNvPr id="4" name="Text 1"/>
          <p:cNvSpPr/>
          <p:nvPr/>
        </p:nvSpPr>
        <p:spPr>
          <a:xfrm>
            <a:off x="396835" y="652701"/>
            <a:ext cx="8350329" cy="117872"/>
          </a:xfrm>
          <a:prstGeom prst="rect">
            <a:avLst/>
          </a:prstGeom>
          <a:noFill/>
          <a:ln/>
        </p:spPr>
        <p:txBody>
          <a:bodyPr wrap="none" lIns="0" tIns="0" rIns="0" bIns="0" rtlCol="0" anchor="t"/>
          <a:lstStyle/>
          <a:p>
            <a:pPr marL="0" indent="0" algn="l">
              <a:lnSpc>
                <a:spcPts val="900"/>
              </a:lnSpc>
              <a:buNone/>
            </a:pPr>
            <a:r>
              <a:rPr lang="en-US" sz="550" dirty="0">
                <a:solidFill>
                  <a:srgbClr val="C2C4B5"/>
                </a:solidFill>
                <a:latin typeface="Bitter" pitchFamily="34" charset="0"/>
                <a:ea typeface="Bitter" pitchFamily="34" charset="-122"/>
                <a:cs typeface="Bitter" pitchFamily="34" charset="-120"/>
              </a:rPr>
              <a:t>Our model demonstrated exceptional performance, successfully exceeding the defined project objectives for accuracy, speed, and size.</a:t>
            </a:r>
            <a:endParaRPr lang="en-US" sz="550" dirty="0"/>
          </a:p>
        </p:txBody>
      </p:sp>
      <p:sp>
        <p:nvSpPr>
          <p:cNvPr id="5" name="Text 2"/>
          <p:cNvSpPr/>
          <p:nvPr/>
        </p:nvSpPr>
        <p:spPr>
          <a:xfrm>
            <a:off x="4118491" y="1332428"/>
            <a:ext cx="906661" cy="184190"/>
          </a:xfrm>
          <a:prstGeom prst="rect">
            <a:avLst/>
          </a:prstGeom>
          <a:noFill/>
          <a:ln/>
        </p:spPr>
        <p:txBody>
          <a:bodyPr wrap="none" lIns="0" tIns="0" rIns="0" bIns="0" rtlCol="0" anchor="t"/>
          <a:lstStyle/>
          <a:p>
            <a:pPr marL="0" indent="0" algn="ctr">
              <a:lnSpc>
                <a:spcPts val="1450"/>
              </a:lnSpc>
              <a:buNone/>
            </a:pPr>
            <a:r>
              <a:rPr lang="en-US" sz="1450" b="1" dirty="0">
                <a:solidFill>
                  <a:srgbClr val="C2C4B5"/>
                </a:solidFill>
                <a:latin typeface="Outfit Bold" pitchFamily="34" charset="0"/>
                <a:ea typeface="Outfit Bold" pitchFamily="34" charset="-122"/>
                <a:cs typeface="Outfit Bold" pitchFamily="34" charset="-120"/>
              </a:rPr>
              <a:t>90.35%</a:t>
            </a:r>
            <a:endParaRPr lang="en-US" sz="1450" dirty="0"/>
          </a:p>
        </p:txBody>
      </p:sp>
      <p:pic>
        <p:nvPicPr>
          <p:cNvPr id="6" name="Image 1" descr="preencoded.png"/>
          <p:cNvPicPr>
            <a:picLocks noChangeAspect="1"/>
          </p:cNvPicPr>
          <p:nvPr/>
        </p:nvPicPr>
        <p:blipFill>
          <a:blip r:embed="rId4"/>
          <a:stretch>
            <a:fillRect/>
          </a:stretch>
        </p:blipFill>
        <p:spPr>
          <a:xfrm>
            <a:off x="4019074" y="871776"/>
            <a:ext cx="1105733" cy="1105733"/>
          </a:xfrm>
          <a:prstGeom prst="rect">
            <a:avLst/>
          </a:prstGeom>
        </p:spPr>
      </p:pic>
      <p:sp>
        <p:nvSpPr>
          <p:cNvPr id="7" name="Text 3"/>
          <p:cNvSpPr/>
          <p:nvPr/>
        </p:nvSpPr>
        <p:spPr>
          <a:xfrm>
            <a:off x="4111228" y="2069544"/>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Overall Accuracy</a:t>
            </a:r>
            <a:endParaRPr lang="en-US" sz="700" dirty="0"/>
          </a:p>
        </p:txBody>
      </p:sp>
      <p:sp>
        <p:nvSpPr>
          <p:cNvPr id="8" name="Text 4"/>
          <p:cNvSpPr/>
          <p:nvPr/>
        </p:nvSpPr>
        <p:spPr>
          <a:xfrm>
            <a:off x="396835" y="2228850"/>
            <a:ext cx="8350329"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Achieved accuracy, surpassing the &gt;90% target.</a:t>
            </a:r>
            <a:endParaRPr lang="en-US" sz="550" dirty="0"/>
          </a:p>
        </p:txBody>
      </p:sp>
      <p:sp>
        <p:nvSpPr>
          <p:cNvPr id="9" name="Text 5"/>
          <p:cNvSpPr/>
          <p:nvPr/>
        </p:nvSpPr>
        <p:spPr>
          <a:xfrm>
            <a:off x="4118491" y="2973110"/>
            <a:ext cx="906661" cy="184190"/>
          </a:xfrm>
          <a:prstGeom prst="rect">
            <a:avLst/>
          </a:prstGeom>
          <a:noFill/>
          <a:ln/>
        </p:spPr>
        <p:txBody>
          <a:bodyPr wrap="none" lIns="0" tIns="0" rIns="0" bIns="0" rtlCol="0" anchor="t"/>
          <a:lstStyle/>
          <a:p>
            <a:pPr marL="0" indent="0" algn="ctr">
              <a:lnSpc>
                <a:spcPts val="1450"/>
              </a:lnSpc>
              <a:buNone/>
            </a:pPr>
            <a:r>
              <a:rPr lang="en-US" sz="1450" b="1" dirty="0">
                <a:solidFill>
                  <a:srgbClr val="C2C4B5"/>
                </a:solidFill>
                <a:latin typeface="Outfit Bold" pitchFamily="34" charset="0"/>
                <a:ea typeface="Outfit Bold" pitchFamily="34" charset="-122"/>
                <a:cs typeface="Outfit Bold" pitchFamily="34" charset="-120"/>
              </a:rPr>
              <a:t>89.94%</a:t>
            </a:r>
            <a:endParaRPr lang="en-US" sz="1450" dirty="0"/>
          </a:p>
        </p:txBody>
      </p:sp>
      <p:pic>
        <p:nvPicPr>
          <p:cNvPr id="10" name="Image 2" descr="preencoded.png"/>
          <p:cNvPicPr>
            <a:picLocks noChangeAspect="1"/>
          </p:cNvPicPr>
          <p:nvPr/>
        </p:nvPicPr>
        <p:blipFill>
          <a:blip r:embed="rId5"/>
          <a:stretch>
            <a:fillRect/>
          </a:stretch>
        </p:blipFill>
        <p:spPr>
          <a:xfrm>
            <a:off x="4019074" y="2512457"/>
            <a:ext cx="1105733" cy="1105733"/>
          </a:xfrm>
          <a:prstGeom prst="rect">
            <a:avLst/>
          </a:prstGeom>
        </p:spPr>
      </p:pic>
      <p:sp>
        <p:nvSpPr>
          <p:cNvPr id="11" name="Text 6"/>
          <p:cNvSpPr/>
          <p:nvPr/>
        </p:nvSpPr>
        <p:spPr>
          <a:xfrm>
            <a:off x="4111228" y="3710226"/>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Precision</a:t>
            </a:r>
            <a:endParaRPr lang="en-US" sz="700" dirty="0"/>
          </a:p>
        </p:txBody>
      </p:sp>
      <p:sp>
        <p:nvSpPr>
          <p:cNvPr id="12" name="Text 7"/>
          <p:cNvSpPr/>
          <p:nvPr/>
        </p:nvSpPr>
        <p:spPr>
          <a:xfrm>
            <a:off x="396835" y="3869531"/>
            <a:ext cx="8350329"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High precision indicates a low rate of false positives.</a:t>
            </a:r>
            <a:endParaRPr lang="en-US" sz="550" dirty="0"/>
          </a:p>
        </p:txBody>
      </p:sp>
      <p:sp>
        <p:nvSpPr>
          <p:cNvPr id="13" name="Text 8"/>
          <p:cNvSpPr/>
          <p:nvPr/>
        </p:nvSpPr>
        <p:spPr>
          <a:xfrm>
            <a:off x="4118491" y="4613791"/>
            <a:ext cx="906661" cy="184190"/>
          </a:xfrm>
          <a:prstGeom prst="rect">
            <a:avLst/>
          </a:prstGeom>
          <a:noFill/>
          <a:ln/>
        </p:spPr>
        <p:txBody>
          <a:bodyPr wrap="none" lIns="0" tIns="0" rIns="0" bIns="0" rtlCol="0" anchor="t"/>
          <a:lstStyle/>
          <a:p>
            <a:pPr marL="0" indent="0" algn="ctr">
              <a:lnSpc>
                <a:spcPts val="1450"/>
              </a:lnSpc>
              <a:buNone/>
            </a:pPr>
            <a:r>
              <a:rPr lang="en-US" sz="1450" b="1" dirty="0">
                <a:solidFill>
                  <a:srgbClr val="C2C4B5"/>
                </a:solidFill>
                <a:latin typeface="Outfit Bold" pitchFamily="34" charset="0"/>
                <a:ea typeface="Outfit Bold" pitchFamily="34" charset="-122"/>
                <a:cs typeface="Outfit Bold" pitchFamily="34" charset="-120"/>
              </a:rPr>
              <a:t>89.51%</a:t>
            </a:r>
            <a:endParaRPr lang="en-US" sz="1450" dirty="0"/>
          </a:p>
        </p:txBody>
      </p:sp>
      <p:pic>
        <p:nvPicPr>
          <p:cNvPr id="14" name="Image 3" descr="preencoded.png"/>
          <p:cNvPicPr>
            <a:picLocks noChangeAspect="1"/>
          </p:cNvPicPr>
          <p:nvPr/>
        </p:nvPicPr>
        <p:blipFill>
          <a:blip r:embed="rId6"/>
          <a:stretch>
            <a:fillRect/>
          </a:stretch>
        </p:blipFill>
        <p:spPr>
          <a:xfrm>
            <a:off x="4019074" y="4153138"/>
            <a:ext cx="1105733" cy="1105733"/>
          </a:xfrm>
          <a:prstGeom prst="rect">
            <a:avLst/>
          </a:prstGeom>
        </p:spPr>
      </p:pic>
      <p:sp>
        <p:nvSpPr>
          <p:cNvPr id="15" name="Text 9"/>
          <p:cNvSpPr/>
          <p:nvPr/>
        </p:nvSpPr>
        <p:spPr>
          <a:xfrm>
            <a:off x="4111228" y="5350907"/>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Recall</a:t>
            </a:r>
            <a:endParaRPr lang="en-US" sz="700" dirty="0"/>
          </a:p>
        </p:txBody>
      </p:sp>
      <p:sp>
        <p:nvSpPr>
          <p:cNvPr id="16" name="Text 10"/>
          <p:cNvSpPr/>
          <p:nvPr/>
        </p:nvSpPr>
        <p:spPr>
          <a:xfrm>
            <a:off x="396835" y="5510213"/>
            <a:ext cx="8350329"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Strong recall signifies the model's ability to identify most true positives.</a:t>
            </a:r>
            <a:endParaRPr lang="en-US" sz="550" dirty="0"/>
          </a:p>
        </p:txBody>
      </p:sp>
      <p:sp>
        <p:nvSpPr>
          <p:cNvPr id="17" name="Text 11"/>
          <p:cNvSpPr/>
          <p:nvPr/>
        </p:nvSpPr>
        <p:spPr>
          <a:xfrm>
            <a:off x="4118491" y="6254472"/>
            <a:ext cx="906661" cy="184190"/>
          </a:xfrm>
          <a:prstGeom prst="rect">
            <a:avLst/>
          </a:prstGeom>
          <a:noFill/>
          <a:ln/>
        </p:spPr>
        <p:txBody>
          <a:bodyPr wrap="none" lIns="0" tIns="0" rIns="0" bIns="0" rtlCol="0" anchor="t"/>
          <a:lstStyle/>
          <a:p>
            <a:pPr marL="0" indent="0" algn="ctr">
              <a:lnSpc>
                <a:spcPts val="1450"/>
              </a:lnSpc>
              <a:buNone/>
            </a:pPr>
            <a:r>
              <a:rPr lang="en-US" sz="1450" b="1" dirty="0">
                <a:solidFill>
                  <a:srgbClr val="C2C4B5"/>
                </a:solidFill>
                <a:latin typeface="Outfit Bold" pitchFamily="34" charset="0"/>
                <a:ea typeface="Outfit Bold" pitchFamily="34" charset="-122"/>
                <a:cs typeface="Outfit Bold" pitchFamily="34" charset="-120"/>
              </a:rPr>
              <a:t>89.37%</a:t>
            </a:r>
            <a:endParaRPr lang="en-US" sz="1450" dirty="0"/>
          </a:p>
        </p:txBody>
      </p:sp>
      <p:pic>
        <p:nvPicPr>
          <p:cNvPr id="18" name="Image 4" descr="preencoded.png"/>
          <p:cNvPicPr>
            <a:picLocks noChangeAspect="1"/>
          </p:cNvPicPr>
          <p:nvPr/>
        </p:nvPicPr>
        <p:blipFill>
          <a:blip r:embed="rId7"/>
          <a:stretch>
            <a:fillRect/>
          </a:stretch>
        </p:blipFill>
        <p:spPr>
          <a:xfrm>
            <a:off x="4019074" y="5793819"/>
            <a:ext cx="1105733" cy="1105733"/>
          </a:xfrm>
          <a:prstGeom prst="rect">
            <a:avLst/>
          </a:prstGeom>
        </p:spPr>
      </p:pic>
      <p:sp>
        <p:nvSpPr>
          <p:cNvPr id="19" name="Text 12"/>
          <p:cNvSpPr/>
          <p:nvPr/>
        </p:nvSpPr>
        <p:spPr>
          <a:xfrm>
            <a:off x="4111228" y="6991588"/>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F1-Score</a:t>
            </a:r>
            <a:endParaRPr lang="en-US" sz="700" dirty="0"/>
          </a:p>
        </p:txBody>
      </p:sp>
      <p:sp>
        <p:nvSpPr>
          <p:cNvPr id="20" name="Text 13"/>
          <p:cNvSpPr/>
          <p:nvPr/>
        </p:nvSpPr>
        <p:spPr>
          <a:xfrm>
            <a:off x="396835" y="7150894"/>
            <a:ext cx="8350329"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Harmonic mean of precision and recall, reflecting robust performance.</a:t>
            </a:r>
            <a:endParaRPr lang="en-US" sz="550" dirty="0"/>
          </a:p>
        </p:txBody>
      </p:sp>
      <p:sp>
        <p:nvSpPr>
          <p:cNvPr id="21" name="Text 14"/>
          <p:cNvSpPr/>
          <p:nvPr/>
        </p:nvSpPr>
        <p:spPr>
          <a:xfrm>
            <a:off x="396835" y="7388423"/>
            <a:ext cx="4129088" cy="243245"/>
          </a:xfrm>
          <a:prstGeom prst="rect">
            <a:avLst/>
          </a:prstGeom>
          <a:noFill/>
          <a:ln/>
        </p:spPr>
        <p:txBody>
          <a:bodyPr wrap="none" lIns="0" tIns="0" rIns="0" bIns="0" rtlCol="0" anchor="t"/>
          <a:lstStyle/>
          <a:p>
            <a:pPr marL="0" indent="0" algn="ctr">
              <a:lnSpc>
                <a:spcPts val="1900"/>
              </a:lnSpc>
              <a:buNone/>
            </a:pPr>
            <a:r>
              <a:rPr lang="en-US" sz="1900" b="1" dirty="0">
                <a:solidFill>
                  <a:srgbClr val="C2C4B5"/>
                </a:solidFill>
                <a:latin typeface="Outfit Bold" pitchFamily="34" charset="0"/>
                <a:ea typeface="Outfit Bold" pitchFamily="34" charset="-122"/>
                <a:cs typeface="Outfit Bold" pitchFamily="34" charset="-120"/>
              </a:rPr>
              <a:t>&lt;50ms</a:t>
            </a:r>
            <a:endParaRPr lang="en-US" sz="1900" dirty="0"/>
          </a:p>
        </p:txBody>
      </p:sp>
      <p:sp>
        <p:nvSpPr>
          <p:cNvPr id="22" name="Text 15"/>
          <p:cNvSpPr/>
          <p:nvPr/>
        </p:nvSpPr>
        <p:spPr>
          <a:xfrm>
            <a:off x="2000607" y="7723703"/>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Inference Time</a:t>
            </a:r>
            <a:endParaRPr lang="en-US" sz="700" dirty="0"/>
          </a:p>
        </p:txBody>
      </p:sp>
      <p:sp>
        <p:nvSpPr>
          <p:cNvPr id="23" name="Text 16"/>
          <p:cNvSpPr/>
          <p:nvPr/>
        </p:nvSpPr>
        <p:spPr>
          <a:xfrm>
            <a:off x="396835" y="7883009"/>
            <a:ext cx="4129088"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Achieved real-time inference, critical for practical applications.</a:t>
            </a:r>
            <a:endParaRPr lang="en-US" sz="550" dirty="0"/>
          </a:p>
        </p:txBody>
      </p:sp>
      <p:sp>
        <p:nvSpPr>
          <p:cNvPr id="24" name="Text 17"/>
          <p:cNvSpPr/>
          <p:nvPr/>
        </p:nvSpPr>
        <p:spPr>
          <a:xfrm>
            <a:off x="4617958" y="7388423"/>
            <a:ext cx="4129207" cy="243245"/>
          </a:xfrm>
          <a:prstGeom prst="rect">
            <a:avLst/>
          </a:prstGeom>
          <a:noFill/>
          <a:ln/>
        </p:spPr>
        <p:txBody>
          <a:bodyPr wrap="none" lIns="0" tIns="0" rIns="0" bIns="0" rtlCol="0" anchor="t"/>
          <a:lstStyle/>
          <a:p>
            <a:pPr marL="0" indent="0" algn="ctr">
              <a:lnSpc>
                <a:spcPts val="1900"/>
              </a:lnSpc>
              <a:buNone/>
            </a:pPr>
            <a:r>
              <a:rPr lang="en-US" sz="1900" b="1" dirty="0">
                <a:solidFill>
                  <a:srgbClr val="C2C4B5"/>
                </a:solidFill>
                <a:latin typeface="Outfit Bold" pitchFamily="34" charset="0"/>
                <a:ea typeface="Outfit Bold" pitchFamily="34" charset="-122"/>
                <a:cs typeface="Outfit Bold" pitchFamily="34" charset="-120"/>
              </a:rPr>
              <a:t>11MB</a:t>
            </a:r>
            <a:endParaRPr lang="en-US" sz="1900" dirty="0"/>
          </a:p>
        </p:txBody>
      </p:sp>
      <p:sp>
        <p:nvSpPr>
          <p:cNvPr id="25" name="Text 18"/>
          <p:cNvSpPr/>
          <p:nvPr/>
        </p:nvSpPr>
        <p:spPr>
          <a:xfrm>
            <a:off x="6221849" y="7723703"/>
            <a:ext cx="921425" cy="115133"/>
          </a:xfrm>
          <a:prstGeom prst="rect">
            <a:avLst/>
          </a:prstGeom>
          <a:noFill/>
          <a:ln/>
        </p:spPr>
        <p:txBody>
          <a:bodyPr wrap="none" lIns="0" tIns="0" rIns="0" bIns="0" rtlCol="0" anchor="t"/>
          <a:lstStyle/>
          <a:p>
            <a:pPr marL="0" indent="0" algn="ctr">
              <a:lnSpc>
                <a:spcPts val="900"/>
              </a:lnSpc>
              <a:buNone/>
            </a:pPr>
            <a:r>
              <a:rPr lang="en-US" sz="700" b="1" dirty="0">
                <a:solidFill>
                  <a:srgbClr val="C2C4B5"/>
                </a:solidFill>
                <a:latin typeface="Outfit Bold" pitchFamily="34" charset="0"/>
                <a:ea typeface="Outfit Bold" pitchFamily="34" charset="-122"/>
                <a:cs typeface="Outfit Bold" pitchFamily="34" charset="-120"/>
              </a:rPr>
              <a:t>Model Size</a:t>
            </a:r>
            <a:endParaRPr lang="en-US" sz="700" dirty="0"/>
          </a:p>
        </p:txBody>
      </p:sp>
      <p:sp>
        <p:nvSpPr>
          <p:cNvPr id="26" name="Text 19"/>
          <p:cNvSpPr/>
          <p:nvPr/>
        </p:nvSpPr>
        <p:spPr>
          <a:xfrm>
            <a:off x="4617958" y="7883009"/>
            <a:ext cx="4129207" cy="117872"/>
          </a:xfrm>
          <a:prstGeom prst="rect">
            <a:avLst/>
          </a:prstGeom>
          <a:noFill/>
          <a:ln/>
        </p:spPr>
        <p:txBody>
          <a:bodyPr wrap="none" lIns="0" tIns="0" rIns="0" bIns="0" rtlCol="0" anchor="t"/>
          <a:lstStyle/>
          <a:p>
            <a:pPr marL="0" indent="0" algn="ctr">
              <a:lnSpc>
                <a:spcPts val="900"/>
              </a:lnSpc>
              <a:buNone/>
            </a:pPr>
            <a:r>
              <a:rPr lang="en-US" sz="550" dirty="0">
                <a:solidFill>
                  <a:srgbClr val="C2C4B5"/>
                </a:solidFill>
                <a:latin typeface="Bitter" pitchFamily="34" charset="0"/>
                <a:ea typeface="Bitter" pitchFamily="34" charset="-122"/>
                <a:cs typeface="Bitter" pitchFamily="34" charset="-120"/>
              </a:rPr>
              <a:t>Compact model size, ideal for deployment on mobile devices and edge computing platforms.</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66186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Training Dynamics &amp; Convergence</a:t>
            </a:r>
            <a:endParaRPr lang="en-US" sz="4450" dirty="0"/>
          </a:p>
        </p:txBody>
      </p:sp>
      <p:sp>
        <p:nvSpPr>
          <p:cNvPr id="4" name="Text 1"/>
          <p:cNvSpPr/>
          <p:nvPr/>
        </p:nvSpPr>
        <p:spPr>
          <a:xfrm>
            <a:off x="6280190" y="241958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The training process revealed excellent generalization capabilities and stable convergence, largely attributed to our robust data preparation strategy.</a:t>
            </a:r>
            <a:endParaRPr lang="en-US" sz="1750" dirty="0"/>
          </a:p>
        </p:txBody>
      </p:sp>
      <p:sp>
        <p:nvSpPr>
          <p:cNvPr id="5" name="Text 2"/>
          <p:cNvSpPr/>
          <p:nvPr/>
        </p:nvSpPr>
        <p:spPr>
          <a:xfrm>
            <a:off x="6620351" y="4103608"/>
            <a:ext cx="7216259" cy="708660"/>
          </a:xfrm>
          <a:prstGeom prst="rect">
            <a:avLst/>
          </a:prstGeom>
          <a:noFill/>
          <a:ln/>
        </p:spPr>
        <p:txBody>
          <a:bodyPr wrap="square" lIns="0" tIns="0" rIns="0" bIns="0" rtlCol="0" anchor="t"/>
          <a:lstStyle/>
          <a:p>
            <a:pPr marL="0" indent="0" algn="l">
              <a:lnSpc>
                <a:spcPts val="2750"/>
              </a:lnSpc>
              <a:buNone/>
            </a:pPr>
            <a:r>
              <a:rPr lang="en-US" sz="2200" b="1" dirty="0">
                <a:solidFill>
                  <a:srgbClr val="9FA582"/>
                </a:solidFill>
                <a:latin typeface="Outfit Bold" pitchFamily="34" charset="0"/>
                <a:ea typeface="Outfit Bold" pitchFamily="34" charset="-122"/>
                <a:cs typeface="Outfit Bold" pitchFamily="34" charset="-120"/>
              </a:rPr>
              <a:t>✓ Validation &gt; Training throughout = Excellent Generalization!</a:t>
            </a:r>
            <a:endParaRPr lang="en-US" sz="2200" dirty="0"/>
          </a:p>
        </p:txBody>
      </p:sp>
      <p:sp>
        <p:nvSpPr>
          <p:cNvPr id="6" name="Text 3"/>
          <p:cNvSpPr/>
          <p:nvPr/>
        </p:nvSpPr>
        <p:spPr>
          <a:xfrm>
            <a:off x="6620351" y="5152430"/>
            <a:ext cx="721625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The model </a:t>
            </a:r>
            <a:r>
              <a:rPr lang="en-US" sz="1750" b="1" dirty="0">
                <a:solidFill>
                  <a:srgbClr val="C2C4B5"/>
                </a:solidFill>
                <a:latin typeface="Bitter" pitchFamily="34" charset="0"/>
                <a:ea typeface="Bitter" pitchFamily="34" charset="-122"/>
                <a:cs typeface="Bitter" pitchFamily="34" charset="-120"/>
              </a:rPr>
              <a:t>converged effectively between Epoch 10-14</a:t>
            </a:r>
            <a:r>
              <a:rPr lang="en-US" sz="1750" dirty="0">
                <a:solidFill>
                  <a:srgbClr val="C2C4B5"/>
                </a:solidFill>
                <a:latin typeface="Bitter" pitchFamily="34" charset="0"/>
                <a:ea typeface="Bitter" pitchFamily="34" charset="-122"/>
                <a:cs typeface="Bitter" pitchFamily="34" charset="-120"/>
              </a:rPr>
              <a:t>, indicating stable learning.</a:t>
            </a:r>
            <a:endParaRPr lang="en-US" sz="1750" dirty="0"/>
          </a:p>
        </p:txBody>
      </p:sp>
      <p:sp>
        <p:nvSpPr>
          <p:cNvPr id="7" name="Text 4"/>
          <p:cNvSpPr/>
          <p:nvPr/>
        </p:nvSpPr>
        <p:spPr>
          <a:xfrm>
            <a:off x="6620351" y="5957530"/>
            <a:ext cx="721625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Consistent performance between training and validation metrics confirmed </a:t>
            </a:r>
            <a:r>
              <a:rPr lang="en-US" sz="1750" b="1" dirty="0">
                <a:solidFill>
                  <a:srgbClr val="C2C4B5"/>
                </a:solidFill>
                <a:latin typeface="Bitter" pitchFamily="34" charset="0"/>
                <a:ea typeface="Bitter" pitchFamily="34" charset="-122"/>
                <a:cs typeface="Bitter" pitchFamily="34" charset="-120"/>
              </a:rPr>
              <a:t>no overfitting</a:t>
            </a:r>
            <a:r>
              <a:rPr lang="en-US" sz="1750" dirty="0">
                <a:solidFill>
                  <a:srgbClr val="C2C4B5"/>
                </a:solidFill>
                <a:latin typeface="Bitter" pitchFamily="34" charset="0"/>
                <a:ea typeface="Bitter" pitchFamily="34" charset="-122"/>
                <a:cs typeface="Bitter" pitchFamily="34" charset="-120"/>
              </a:rPr>
              <a:t>.</a:t>
            </a:r>
            <a:endParaRPr lang="en-US" sz="1750" dirty="0"/>
          </a:p>
        </p:txBody>
      </p:sp>
      <p:sp>
        <p:nvSpPr>
          <p:cNvPr id="8" name="Text 5"/>
          <p:cNvSpPr/>
          <p:nvPr/>
        </p:nvSpPr>
        <p:spPr>
          <a:xfrm>
            <a:off x="6620351" y="6762631"/>
            <a:ext cx="721625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2C4B5"/>
                </a:solidFill>
                <a:latin typeface="Bitter" pitchFamily="34" charset="0"/>
                <a:ea typeface="Bitter" pitchFamily="34" charset="-122"/>
                <a:cs typeface="Bitter" pitchFamily="34" charset="-120"/>
              </a:rPr>
              <a:t>The effectiveness of data augmentation was clearly demonstrated by the </a:t>
            </a:r>
            <a:r>
              <a:rPr lang="en-US" sz="1750" b="1" dirty="0">
                <a:solidFill>
                  <a:srgbClr val="C2C4B5"/>
                </a:solidFill>
                <a:latin typeface="Bitter" pitchFamily="34" charset="0"/>
                <a:ea typeface="Bitter" pitchFamily="34" charset="-122"/>
                <a:cs typeface="Bitter" pitchFamily="34" charset="-120"/>
              </a:rPr>
              <a:t>strong generalization</a:t>
            </a:r>
            <a:r>
              <a:rPr lang="en-US" sz="1750" dirty="0">
                <a:solidFill>
                  <a:srgbClr val="C2C4B5"/>
                </a:solidFill>
                <a:latin typeface="Bitter" pitchFamily="34" charset="0"/>
                <a:ea typeface="Bitter" pitchFamily="34" charset="-122"/>
                <a:cs typeface="Bitter" pitchFamily="34" charset="-120"/>
              </a:rPr>
              <a:t> to unseen data.</a:t>
            </a:r>
            <a:endParaRPr lang="en-US" sz="1750" dirty="0"/>
          </a:p>
        </p:txBody>
      </p:sp>
      <p:sp>
        <p:nvSpPr>
          <p:cNvPr id="9" name="Shape 6"/>
          <p:cNvSpPr/>
          <p:nvPr/>
        </p:nvSpPr>
        <p:spPr>
          <a:xfrm>
            <a:off x="6280190" y="3763447"/>
            <a:ext cx="30480" cy="3804285"/>
          </a:xfrm>
          <a:prstGeom prst="rect">
            <a:avLst/>
          </a:prstGeom>
          <a:solidFill>
            <a:srgbClr val="9FA582"/>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91039"/>
            <a:ext cx="7994213" cy="460772"/>
          </a:xfrm>
          <a:prstGeom prst="rect">
            <a:avLst/>
          </a:prstGeom>
          <a:noFill/>
          <a:ln/>
        </p:spPr>
        <p:txBody>
          <a:bodyPr wrap="none" lIns="0" tIns="0" rIns="0" bIns="0" rtlCol="0" anchor="t"/>
          <a:lstStyle/>
          <a:p>
            <a:pPr marL="0" indent="0" algn="l">
              <a:lnSpc>
                <a:spcPts val="3600"/>
              </a:lnSpc>
              <a:buNone/>
            </a:pPr>
            <a:r>
              <a:rPr lang="en-US" sz="2900" b="1" dirty="0">
                <a:solidFill>
                  <a:srgbClr val="E1E5CD"/>
                </a:solidFill>
                <a:latin typeface="Outfit Bold" pitchFamily="34" charset="0"/>
                <a:ea typeface="Outfit Bold" pitchFamily="34" charset="-122"/>
                <a:cs typeface="Outfit Bold" pitchFamily="34" charset="-120"/>
              </a:rPr>
              <a:t>Error Analysis: Unpacking the Confusion Matrix</a:t>
            </a:r>
            <a:endParaRPr lang="en-US" sz="2900" dirty="0"/>
          </a:p>
        </p:txBody>
      </p:sp>
      <p:sp>
        <p:nvSpPr>
          <p:cNvPr id="3" name="Text 1"/>
          <p:cNvSpPr/>
          <p:nvPr/>
        </p:nvSpPr>
        <p:spPr>
          <a:xfrm>
            <a:off x="793790" y="1446609"/>
            <a:ext cx="13042821" cy="235744"/>
          </a:xfrm>
          <a:prstGeom prst="rect">
            <a:avLst/>
          </a:prstGeom>
          <a:noFill/>
          <a:ln/>
        </p:spPr>
        <p:txBody>
          <a:bodyPr wrap="none" lIns="0" tIns="0" rIns="0" bIns="0" rtlCol="0" anchor="t"/>
          <a:lstStyle/>
          <a:p>
            <a:pPr marL="0" indent="0" algn="l">
              <a:lnSpc>
                <a:spcPts val="1850"/>
              </a:lnSpc>
              <a:buNone/>
            </a:pPr>
            <a:r>
              <a:rPr lang="en-US" sz="1150" dirty="0">
                <a:solidFill>
                  <a:srgbClr val="C2C4B5"/>
                </a:solidFill>
                <a:latin typeface="Bitter" pitchFamily="34" charset="0"/>
                <a:ea typeface="Bitter" pitchFamily="34" charset="-122"/>
                <a:cs typeface="Bitter" pitchFamily="34" charset="-120"/>
              </a:rPr>
              <a:t>A detailed analysis of the confusion matrix provides deeper insights into the model's strengths and identifies specific areas for potential improvement.</a:t>
            </a:r>
            <a:endParaRPr lang="en-US" sz="1150" dirty="0"/>
          </a:p>
        </p:txBody>
      </p:sp>
      <p:pic>
        <p:nvPicPr>
          <p:cNvPr id="4" name="Image 0" descr="preencoded.png"/>
          <p:cNvPicPr>
            <a:picLocks noChangeAspect="1"/>
          </p:cNvPicPr>
          <p:nvPr/>
        </p:nvPicPr>
        <p:blipFill>
          <a:blip r:embed="rId3"/>
          <a:stretch>
            <a:fillRect/>
          </a:stretch>
        </p:blipFill>
        <p:spPr>
          <a:xfrm>
            <a:off x="793790" y="2014061"/>
            <a:ext cx="4121944" cy="4085392"/>
          </a:xfrm>
          <a:prstGeom prst="rect">
            <a:avLst/>
          </a:prstGeom>
        </p:spPr>
      </p:pic>
      <p:sp>
        <p:nvSpPr>
          <p:cNvPr id="5" name="Shape 2"/>
          <p:cNvSpPr/>
          <p:nvPr/>
        </p:nvSpPr>
        <p:spPr>
          <a:xfrm>
            <a:off x="7502604" y="2014061"/>
            <a:ext cx="6341626" cy="1410295"/>
          </a:xfrm>
          <a:prstGeom prst="roundRect">
            <a:avLst>
              <a:gd name="adj" fmla="val 1568"/>
            </a:avLst>
          </a:prstGeom>
          <a:solidFill>
            <a:srgbClr val="1C1D1F"/>
          </a:solidFill>
          <a:ln w="15240">
            <a:solidFill>
              <a:srgbClr val="545557"/>
            </a:solidFill>
            <a:prstDash val="solid"/>
          </a:ln>
        </p:spPr>
      </p:sp>
      <p:sp>
        <p:nvSpPr>
          <p:cNvPr id="6" name="Text 3"/>
          <p:cNvSpPr/>
          <p:nvPr/>
        </p:nvSpPr>
        <p:spPr>
          <a:xfrm>
            <a:off x="7665244" y="2176701"/>
            <a:ext cx="2727365" cy="230386"/>
          </a:xfrm>
          <a:prstGeom prst="rect">
            <a:avLst/>
          </a:prstGeom>
          <a:noFill/>
          <a:ln/>
        </p:spPr>
        <p:txBody>
          <a:bodyPr wrap="none" lIns="0" tIns="0" rIns="0" bIns="0" rtlCol="0" anchor="t"/>
          <a:lstStyle/>
          <a:p>
            <a:pPr marL="0" indent="0" algn="l">
              <a:lnSpc>
                <a:spcPts val="1800"/>
              </a:lnSpc>
              <a:buNone/>
            </a:pPr>
            <a:r>
              <a:rPr lang="en-US" sz="1450" b="1" dirty="0">
                <a:solidFill>
                  <a:srgbClr val="9FA582"/>
                </a:solidFill>
                <a:latin typeface="Outfit Bold" pitchFamily="34" charset="0"/>
                <a:ea typeface="Outfit Bold" pitchFamily="34" charset="-122"/>
                <a:cs typeface="Outfit Bold" pitchFamily="34" charset="-120"/>
              </a:rPr>
              <a:t>✓ Strong Diagonal Performance</a:t>
            </a:r>
            <a:endParaRPr lang="en-US" sz="1450" dirty="0"/>
          </a:p>
        </p:txBody>
      </p:sp>
      <p:sp>
        <p:nvSpPr>
          <p:cNvPr id="7" name="Text 4"/>
          <p:cNvSpPr/>
          <p:nvPr/>
        </p:nvSpPr>
        <p:spPr>
          <a:xfrm>
            <a:off x="7665244" y="2554486"/>
            <a:ext cx="6016347" cy="707231"/>
          </a:xfrm>
          <a:prstGeom prst="rect">
            <a:avLst/>
          </a:prstGeom>
          <a:noFill/>
          <a:ln/>
        </p:spPr>
        <p:txBody>
          <a:bodyPr wrap="square" lIns="0" tIns="0" rIns="0" bIns="0" rtlCol="0" anchor="t"/>
          <a:lstStyle/>
          <a:p>
            <a:pPr marL="0" indent="0" algn="l">
              <a:lnSpc>
                <a:spcPts val="1850"/>
              </a:lnSpc>
              <a:buNone/>
            </a:pPr>
            <a:r>
              <a:rPr lang="en-US" sz="1150" dirty="0">
                <a:solidFill>
                  <a:srgbClr val="C2C4B5"/>
                </a:solidFill>
                <a:latin typeface="Bitter" pitchFamily="34" charset="0"/>
                <a:ea typeface="Bitter" pitchFamily="34" charset="-122"/>
                <a:cs typeface="Bitter" pitchFamily="34" charset="-120"/>
              </a:rPr>
              <a:t>The prominent diagonal indicates a high number of correct predictions across most classes, demonstrating the model's overall efficacy in distinguishing different plant diseases.</a:t>
            </a:r>
            <a:endParaRPr lang="en-US" sz="1150" dirty="0"/>
          </a:p>
        </p:txBody>
      </p:sp>
      <p:sp>
        <p:nvSpPr>
          <p:cNvPr id="8" name="Shape 5"/>
          <p:cNvSpPr/>
          <p:nvPr/>
        </p:nvSpPr>
        <p:spPr>
          <a:xfrm>
            <a:off x="7502604" y="3571756"/>
            <a:ext cx="6341626" cy="1174552"/>
          </a:xfrm>
          <a:prstGeom prst="roundRect">
            <a:avLst>
              <a:gd name="adj" fmla="val 1883"/>
            </a:avLst>
          </a:prstGeom>
          <a:solidFill>
            <a:srgbClr val="1C1D1F"/>
          </a:solidFill>
          <a:ln w="15240">
            <a:solidFill>
              <a:srgbClr val="545557"/>
            </a:solidFill>
            <a:prstDash val="solid"/>
          </a:ln>
        </p:spPr>
      </p:sp>
      <p:sp>
        <p:nvSpPr>
          <p:cNvPr id="9" name="Text 6"/>
          <p:cNvSpPr/>
          <p:nvPr/>
        </p:nvSpPr>
        <p:spPr>
          <a:xfrm>
            <a:off x="7665244" y="3734395"/>
            <a:ext cx="2314932" cy="230386"/>
          </a:xfrm>
          <a:prstGeom prst="rect">
            <a:avLst/>
          </a:prstGeom>
          <a:noFill/>
          <a:ln/>
        </p:spPr>
        <p:txBody>
          <a:bodyPr wrap="none" lIns="0" tIns="0" rIns="0" bIns="0" rtlCol="0" anchor="t"/>
          <a:lstStyle/>
          <a:p>
            <a:pPr marL="0" indent="0" algn="l">
              <a:lnSpc>
                <a:spcPts val="1800"/>
              </a:lnSpc>
              <a:buNone/>
            </a:pPr>
            <a:r>
              <a:rPr lang="en-US" sz="1450" b="1" dirty="0">
                <a:solidFill>
                  <a:srgbClr val="9FA582"/>
                </a:solidFill>
                <a:latin typeface="Outfit Bold" pitchFamily="34" charset="0"/>
                <a:ea typeface="Outfit Bold" pitchFamily="34" charset="-122"/>
                <a:cs typeface="Outfit Bold" pitchFamily="34" charset="-120"/>
              </a:rPr>
              <a:t>✓ Clear Species Separation</a:t>
            </a:r>
            <a:endParaRPr lang="en-US" sz="1450" dirty="0"/>
          </a:p>
        </p:txBody>
      </p:sp>
      <p:sp>
        <p:nvSpPr>
          <p:cNvPr id="10" name="Text 7"/>
          <p:cNvSpPr/>
          <p:nvPr/>
        </p:nvSpPr>
        <p:spPr>
          <a:xfrm>
            <a:off x="7665244" y="4112181"/>
            <a:ext cx="6016347" cy="471488"/>
          </a:xfrm>
          <a:prstGeom prst="rect">
            <a:avLst/>
          </a:prstGeom>
          <a:noFill/>
          <a:ln/>
        </p:spPr>
        <p:txBody>
          <a:bodyPr wrap="square" lIns="0" tIns="0" rIns="0" bIns="0" rtlCol="0" anchor="t"/>
          <a:lstStyle/>
          <a:p>
            <a:pPr marL="0" indent="0" algn="l">
              <a:lnSpc>
                <a:spcPts val="1850"/>
              </a:lnSpc>
              <a:buNone/>
            </a:pPr>
            <a:r>
              <a:rPr lang="en-US" sz="1150" dirty="0">
                <a:solidFill>
                  <a:srgbClr val="C2C4B5"/>
                </a:solidFill>
                <a:latin typeface="Bitter" pitchFamily="34" charset="0"/>
                <a:ea typeface="Bitter" pitchFamily="34" charset="-122"/>
                <a:cs typeface="Bitter" pitchFamily="34" charset="-120"/>
              </a:rPr>
              <a:t>Notably, there was virtually no confusion between different plant species, highlighting the model's ability to correctly identify the host plant before diagnosing the disease.</a:t>
            </a:r>
            <a:endParaRPr lang="en-US" sz="1150" dirty="0"/>
          </a:p>
        </p:txBody>
      </p:sp>
      <p:sp>
        <p:nvSpPr>
          <p:cNvPr id="11" name="Shape 8"/>
          <p:cNvSpPr/>
          <p:nvPr/>
        </p:nvSpPr>
        <p:spPr>
          <a:xfrm>
            <a:off x="7502604" y="4893707"/>
            <a:ext cx="6341626" cy="1417915"/>
          </a:xfrm>
          <a:prstGeom prst="roundRect">
            <a:avLst>
              <a:gd name="adj" fmla="val 1560"/>
            </a:avLst>
          </a:prstGeom>
          <a:solidFill>
            <a:srgbClr val="1C1D1F"/>
          </a:solidFill>
          <a:ln w="15240">
            <a:solidFill>
              <a:srgbClr val="545557"/>
            </a:solidFill>
            <a:prstDash val="solid"/>
          </a:ln>
        </p:spPr>
      </p:sp>
      <p:sp>
        <p:nvSpPr>
          <p:cNvPr id="12" name="Text 9"/>
          <p:cNvSpPr/>
          <p:nvPr/>
        </p:nvSpPr>
        <p:spPr>
          <a:xfrm>
            <a:off x="7665244" y="5056346"/>
            <a:ext cx="3581519" cy="23800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Outfit Bold" pitchFamily="34" charset="0"/>
                <a:ea typeface="Outfit Bold" pitchFamily="34" charset="-122"/>
                <a:cs typeface="Outfit Bold" pitchFamily="34" charset="-120"/>
              </a:rPr>
              <a:t>⚠</a:t>
            </a:r>
            <a:r>
              <a:rPr lang="en-US" sz="1450" b="1" dirty="0">
                <a:solidFill>
                  <a:srgbClr val="C2C4B5"/>
                </a:solidFill>
                <a:latin typeface="Outfit Bold" pitchFamily="34" charset="0"/>
                <a:ea typeface="Outfit Bold" pitchFamily="34" charset="-122"/>
                <a:cs typeface="Outfit Bold" pitchFamily="34" charset="-120"/>
              </a:rPr>
              <a:t> Class 16 Confusion: Early vs. Late Blight</a:t>
            </a:r>
            <a:endParaRPr lang="en-US" sz="1450" dirty="0"/>
          </a:p>
        </p:txBody>
      </p:sp>
      <p:sp>
        <p:nvSpPr>
          <p:cNvPr id="13" name="Text 10"/>
          <p:cNvSpPr/>
          <p:nvPr/>
        </p:nvSpPr>
        <p:spPr>
          <a:xfrm>
            <a:off x="7665244" y="5441752"/>
            <a:ext cx="6016347" cy="707231"/>
          </a:xfrm>
          <a:prstGeom prst="rect">
            <a:avLst/>
          </a:prstGeom>
          <a:noFill/>
          <a:ln/>
        </p:spPr>
        <p:txBody>
          <a:bodyPr wrap="square" lIns="0" tIns="0" rIns="0" bIns="0" rtlCol="0" anchor="t"/>
          <a:lstStyle/>
          <a:p>
            <a:pPr marL="0" indent="0" algn="l">
              <a:lnSpc>
                <a:spcPts val="1850"/>
              </a:lnSpc>
              <a:buNone/>
            </a:pPr>
            <a:r>
              <a:rPr lang="en-US" sz="1150" dirty="0">
                <a:solidFill>
                  <a:srgbClr val="C2C4B5"/>
                </a:solidFill>
                <a:latin typeface="Bitter" pitchFamily="34" charset="0"/>
                <a:ea typeface="Bitter" pitchFamily="34" charset="-122"/>
                <a:cs typeface="Bitter" pitchFamily="34" charset="-120"/>
              </a:rPr>
              <a:t>The primary area of confusion (approximately 15%) was observed between "Early Blight" and "Late Blight" (Class 16). These diseases often share similar visual symptoms in their early stages, making differentiation challenging even for human experts.</a:t>
            </a:r>
            <a:endParaRPr lang="en-US" sz="1150" dirty="0"/>
          </a:p>
        </p:txBody>
      </p:sp>
      <p:sp>
        <p:nvSpPr>
          <p:cNvPr id="14" name="Text 11"/>
          <p:cNvSpPr/>
          <p:nvPr/>
        </p:nvSpPr>
        <p:spPr>
          <a:xfrm>
            <a:off x="7723703" y="6477476"/>
            <a:ext cx="4094440" cy="276344"/>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Outfit Bold" pitchFamily="34" charset="0"/>
                <a:ea typeface="Outfit Bold" pitchFamily="34" charset="-122"/>
                <a:cs typeface="Outfit Bold" pitchFamily="34" charset="-120"/>
              </a:rPr>
              <a:t>🎯</a:t>
            </a:r>
            <a:r>
              <a:rPr lang="en-US" sz="1700" b="1" dirty="0">
                <a:solidFill>
                  <a:srgbClr val="E1E5CD"/>
                </a:solidFill>
                <a:latin typeface="Outfit Bold" pitchFamily="34" charset="0"/>
                <a:ea typeface="Outfit Bold" pitchFamily="34" charset="-122"/>
                <a:cs typeface="Outfit Bold" pitchFamily="34" charset="-120"/>
              </a:rPr>
              <a:t> Near-Perfect Classification Achieved</a:t>
            </a:r>
            <a:endParaRPr lang="en-US" sz="1700" dirty="0"/>
          </a:p>
        </p:txBody>
      </p:sp>
      <p:sp>
        <p:nvSpPr>
          <p:cNvPr id="15" name="Text 12"/>
          <p:cNvSpPr/>
          <p:nvPr/>
        </p:nvSpPr>
        <p:spPr>
          <a:xfrm>
            <a:off x="7723703" y="6901220"/>
            <a:ext cx="6120527" cy="471488"/>
          </a:xfrm>
          <a:prstGeom prst="rect">
            <a:avLst/>
          </a:prstGeom>
          <a:noFill/>
          <a:ln/>
        </p:spPr>
        <p:txBody>
          <a:bodyPr wrap="square" lIns="0" tIns="0" rIns="0" bIns="0" rtlCol="0" anchor="t"/>
          <a:lstStyle/>
          <a:p>
            <a:pPr marL="0" indent="0" algn="l">
              <a:lnSpc>
                <a:spcPts val="1850"/>
              </a:lnSpc>
              <a:buNone/>
            </a:pPr>
            <a:r>
              <a:rPr lang="en-US" sz="1150" dirty="0">
                <a:solidFill>
                  <a:srgbClr val="C2C4B5"/>
                </a:solidFill>
                <a:latin typeface="Bitter" pitchFamily="34" charset="0"/>
                <a:ea typeface="Bitter" pitchFamily="34" charset="-122"/>
                <a:cs typeface="Bitter" pitchFamily="34" charset="-120"/>
              </a:rPr>
              <a:t>Despite minor confusion between very similar diseases, the model achieved near-perfect classification for the vast majority of disease classes.</a:t>
            </a:r>
            <a:endParaRPr lang="en-US" sz="1150" dirty="0"/>
          </a:p>
        </p:txBody>
      </p:sp>
      <p:sp>
        <p:nvSpPr>
          <p:cNvPr id="16" name="Shape 13"/>
          <p:cNvSpPr/>
          <p:nvPr/>
        </p:nvSpPr>
        <p:spPr>
          <a:xfrm>
            <a:off x="7502604" y="6477476"/>
            <a:ext cx="15240" cy="895231"/>
          </a:xfrm>
          <a:prstGeom prst="rect">
            <a:avLst/>
          </a:prstGeom>
          <a:solidFill>
            <a:srgbClr val="9FA582"/>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5676" y="507325"/>
            <a:ext cx="8084820" cy="374690"/>
          </a:xfrm>
          <a:prstGeom prst="rect">
            <a:avLst/>
          </a:prstGeom>
          <a:noFill/>
          <a:ln/>
        </p:spPr>
        <p:txBody>
          <a:bodyPr wrap="none" lIns="0" tIns="0" rIns="0" bIns="0" rtlCol="0" anchor="t"/>
          <a:lstStyle/>
          <a:p>
            <a:pPr marL="0" indent="0" algn="l">
              <a:lnSpc>
                <a:spcPts val="2950"/>
              </a:lnSpc>
              <a:buNone/>
            </a:pPr>
            <a:r>
              <a:rPr lang="en-US" sz="2350" b="1" dirty="0">
                <a:solidFill>
                  <a:srgbClr val="E1E5CD"/>
                </a:solidFill>
                <a:latin typeface="Outfit Bold" pitchFamily="34" charset="0"/>
                <a:ea typeface="Outfit Bold" pitchFamily="34" charset="-122"/>
                <a:cs typeface="Outfit Bold" pitchFamily="34" charset="-120"/>
              </a:rPr>
              <a:t>Ablation Study: The Indispensable Impact of Augmentation</a:t>
            </a:r>
            <a:endParaRPr lang="en-US" sz="2350" dirty="0"/>
          </a:p>
        </p:txBody>
      </p:sp>
      <p:sp>
        <p:nvSpPr>
          <p:cNvPr id="3" name="Text 1"/>
          <p:cNvSpPr/>
          <p:nvPr/>
        </p:nvSpPr>
        <p:spPr>
          <a:xfrm>
            <a:off x="645676" y="1121807"/>
            <a:ext cx="13339048" cy="191810"/>
          </a:xfrm>
          <a:prstGeom prst="rect">
            <a:avLst/>
          </a:prstGeom>
          <a:noFill/>
          <a:ln/>
        </p:spPr>
        <p:txBody>
          <a:bodyPr wrap="none" lIns="0" tIns="0" rIns="0" bIns="0" rtlCol="0" anchor="t"/>
          <a:lstStyle/>
          <a:p>
            <a:pPr marL="0" indent="0" algn="l">
              <a:lnSpc>
                <a:spcPts val="1500"/>
              </a:lnSpc>
              <a:buNone/>
            </a:pPr>
            <a:r>
              <a:rPr lang="en-US" sz="900" dirty="0">
                <a:solidFill>
                  <a:srgbClr val="C2C4B5"/>
                </a:solidFill>
                <a:latin typeface="Bitter" pitchFamily="34" charset="0"/>
                <a:ea typeface="Bitter" pitchFamily="34" charset="-122"/>
                <a:cs typeface="Bitter" pitchFamily="34" charset="-120"/>
              </a:rPr>
              <a:t>Our ablation study clearly demonstrated the critical role of data augmentation in achieving robust model performance and generalization. Without it, the model suffered from severe overfitting.</a:t>
            </a:r>
            <a:endParaRPr lang="en-US" sz="900" dirty="0"/>
          </a:p>
        </p:txBody>
      </p:sp>
      <p:sp>
        <p:nvSpPr>
          <p:cNvPr id="4" name="Text 2"/>
          <p:cNvSpPr/>
          <p:nvPr/>
        </p:nvSpPr>
        <p:spPr>
          <a:xfrm>
            <a:off x="645676" y="1568410"/>
            <a:ext cx="1498997" cy="194905"/>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Outfit Bold" pitchFamily="34" charset="0"/>
                <a:ea typeface="Outfit Bold" pitchFamily="34" charset="-122"/>
                <a:cs typeface="Outfit Bold" pitchFamily="34" charset="-120"/>
              </a:rPr>
              <a:t>❌</a:t>
            </a:r>
            <a:r>
              <a:rPr lang="en-US" sz="1150" b="1" dirty="0">
                <a:solidFill>
                  <a:srgbClr val="E1E5CD"/>
                </a:solidFill>
                <a:latin typeface="Outfit Bold" pitchFamily="34" charset="0"/>
                <a:ea typeface="Outfit Bold" pitchFamily="34" charset="-122"/>
                <a:cs typeface="Outfit Bold" pitchFamily="34" charset="-120"/>
              </a:rPr>
              <a:t> No Augmentation</a:t>
            </a:r>
            <a:endParaRPr lang="en-US" sz="1150" dirty="0"/>
          </a:p>
        </p:txBody>
      </p:sp>
      <p:sp>
        <p:nvSpPr>
          <p:cNvPr id="5" name="Text 3"/>
          <p:cNvSpPr/>
          <p:nvPr/>
        </p:nvSpPr>
        <p:spPr>
          <a:xfrm>
            <a:off x="645676" y="1883212"/>
            <a:ext cx="4250888" cy="383619"/>
          </a:xfrm>
          <a:prstGeom prst="rect">
            <a:avLst/>
          </a:prstGeom>
          <a:noFill/>
          <a:ln/>
        </p:spPr>
        <p:txBody>
          <a:bodyPr wrap="square" lIns="0" tIns="0" rIns="0" bIns="0" rtlCol="0" anchor="t"/>
          <a:lstStyle/>
          <a:p>
            <a:pPr marL="0" indent="0" algn="l">
              <a:lnSpc>
                <a:spcPts val="1500"/>
              </a:lnSpc>
              <a:buNone/>
            </a:pPr>
            <a:r>
              <a:rPr lang="en-US" sz="900" dirty="0">
                <a:solidFill>
                  <a:srgbClr val="C2C4B5"/>
                </a:solidFill>
                <a:latin typeface="Bitter" pitchFamily="34" charset="0"/>
                <a:ea typeface="Bitter" pitchFamily="34" charset="-122"/>
                <a:cs typeface="Bitter" pitchFamily="34" charset="-120"/>
              </a:rPr>
              <a:t>Training the model exclusively on raw, unaugmented images resulted in a significantly lower accuracy and profound overfitting to the training data.</a:t>
            </a:r>
            <a:endParaRPr lang="en-US" sz="900" dirty="0"/>
          </a:p>
        </p:txBody>
      </p:sp>
      <p:sp>
        <p:nvSpPr>
          <p:cNvPr id="6" name="Text 4"/>
          <p:cNvSpPr/>
          <p:nvPr/>
        </p:nvSpPr>
        <p:spPr>
          <a:xfrm>
            <a:off x="645676" y="2386727"/>
            <a:ext cx="4250888" cy="749498"/>
          </a:xfrm>
          <a:prstGeom prst="rect">
            <a:avLst/>
          </a:prstGeom>
          <a:noFill/>
          <a:ln/>
        </p:spPr>
        <p:txBody>
          <a:bodyPr wrap="none" lIns="0" tIns="0" rIns="0" bIns="0" rtlCol="0" anchor="t"/>
          <a:lstStyle/>
          <a:p>
            <a:pPr marL="0" indent="0" algn="l">
              <a:lnSpc>
                <a:spcPts val="5900"/>
              </a:lnSpc>
              <a:buNone/>
            </a:pPr>
            <a:r>
              <a:rPr lang="en-US" sz="4700" b="1" dirty="0">
                <a:solidFill>
                  <a:srgbClr val="E1E5CD"/>
                </a:solidFill>
                <a:latin typeface="Outfit Bold" pitchFamily="34" charset="0"/>
                <a:ea typeface="Outfit Bold" pitchFamily="34" charset="-122"/>
                <a:cs typeface="Outfit Bold" pitchFamily="34" charset="-120"/>
              </a:rPr>
              <a:t>78%</a:t>
            </a:r>
            <a:endParaRPr lang="en-US" sz="4700" dirty="0"/>
          </a:p>
        </p:txBody>
      </p:sp>
      <p:sp>
        <p:nvSpPr>
          <p:cNvPr id="7" name="Text 5"/>
          <p:cNvSpPr/>
          <p:nvPr/>
        </p:nvSpPr>
        <p:spPr>
          <a:xfrm>
            <a:off x="645676" y="3256121"/>
            <a:ext cx="4250888" cy="191810"/>
          </a:xfrm>
          <a:prstGeom prst="rect">
            <a:avLst/>
          </a:prstGeom>
          <a:noFill/>
          <a:ln/>
        </p:spPr>
        <p:txBody>
          <a:bodyPr wrap="none" lIns="0" tIns="0" rIns="0" bIns="0" rtlCol="0" anchor="t"/>
          <a:lstStyle/>
          <a:p>
            <a:pPr marL="0" indent="0" algn="l">
              <a:lnSpc>
                <a:spcPts val="1500"/>
              </a:lnSpc>
              <a:buNone/>
            </a:pPr>
            <a:r>
              <a:rPr lang="en-US" sz="900" i="1" dirty="0">
                <a:solidFill>
                  <a:srgbClr val="C2C4B5"/>
                </a:solidFill>
                <a:latin typeface="Bitter" pitchFamily="34" charset="0"/>
                <a:ea typeface="Bitter" pitchFamily="34" charset="-122"/>
                <a:cs typeface="Bitter" pitchFamily="34" charset="-120"/>
              </a:rPr>
              <a:t>Severe Overfitting to Training Data</a:t>
            </a:r>
            <a:endParaRPr lang="en-US" sz="900" dirty="0"/>
          </a:p>
        </p:txBody>
      </p:sp>
      <p:pic>
        <p:nvPicPr>
          <p:cNvPr id="8" name="Image 0" descr="preencoded.png"/>
          <p:cNvPicPr>
            <a:picLocks noChangeAspect="1"/>
          </p:cNvPicPr>
          <p:nvPr/>
        </p:nvPicPr>
        <p:blipFill>
          <a:blip r:embed="rId3"/>
          <a:stretch>
            <a:fillRect/>
          </a:stretch>
        </p:blipFill>
        <p:spPr>
          <a:xfrm>
            <a:off x="645676" y="3582829"/>
            <a:ext cx="2762964" cy="2762964"/>
          </a:xfrm>
          <a:prstGeom prst="rect">
            <a:avLst/>
          </a:prstGeom>
        </p:spPr>
      </p:pic>
      <p:sp>
        <p:nvSpPr>
          <p:cNvPr id="9" name="Text 6"/>
          <p:cNvSpPr/>
          <p:nvPr/>
        </p:nvSpPr>
        <p:spPr>
          <a:xfrm>
            <a:off x="5196602" y="1568410"/>
            <a:ext cx="4250888" cy="749498"/>
          </a:xfrm>
          <a:prstGeom prst="rect">
            <a:avLst/>
          </a:prstGeom>
          <a:noFill/>
          <a:ln/>
        </p:spPr>
        <p:txBody>
          <a:bodyPr wrap="none" lIns="0" tIns="0" rIns="0" bIns="0" rtlCol="0" anchor="t"/>
          <a:lstStyle/>
          <a:p>
            <a:pPr marL="0" indent="0" algn="l">
              <a:lnSpc>
                <a:spcPts val="5900"/>
              </a:lnSpc>
              <a:buNone/>
            </a:pPr>
            <a:r>
              <a:rPr lang="en-US" sz="4700" b="1" dirty="0">
                <a:solidFill>
                  <a:srgbClr val="E1E5CD"/>
                </a:solidFill>
                <a:latin typeface="Outfit Bold" pitchFamily="34" charset="0"/>
                <a:ea typeface="Outfit Bold" pitchFamily="34" charset="-122"/>
                <a:cs typeface="Outfit Bold" pitchFamily="34" charset="-120"/>
              </a:rPr>
              <a:t>VS</a:t>
            </a:r>
            <a:endParaRPr lang="en-US" sz="4700" dirty="0"/>
          </a:p>
        </p:txBody>
      </p:sp>
      <p:sp>
        <p:nvSpPr>
          <p:cNvPr id="10" name="Text 7"/>
          <p:cNvSpPr/>
          <p:nvPr/>
        </p:nvSpPr>
        <p:spPr>
          <a:xfrm>
            <a:off x="9747528" y="1568410"/>
            <a:ext cx="1503402" cy="187285"/>
          </a:xfrm>
          <a:prstGeom prst="rect">
            <a:avLst/>
          </a:prstGeom>
          <a:noFill/>
          <a:ln/>
        </p:spPr>
        <p:txBody>
          <a:bodyPr wrap="none" lIns="0" tIns="0" rIns="0" bIns="0" rtlCol="0" anchor="t"/>
          <a:lstStyle/>
          <a:p>
            <a:pPr marL="0" indent="0" algn="l">
              <a:lnSpc>
                <a:spcPts val="1450"/>
              </a:lnSpc>
              <a:buNone/>
            </a:pPr>
            <a:r>
              <a:rPr lang="en-US" sz="1150" b="1" dirty="0">
                <a:solidFill>
                  <a:srgbClr val="9FA582"/>
                </a:solidFill>
                <a:latin typeface="Outfit Bold" pitchFamily="34" charset="0"/>
                <a:ea typeface="Outfit Bold" pitchFamily="34" charset="-122"/>
                <a:cs typeface="Outfit Bold" pitchFamily="34" charset="-120"/>
              </a:rPr>
              <a:t>✓ With Augmentation</a:t>
            </a:r>
            <a:endParaRPr lang="en-US" sz="1150" dirty="0"/>
          </a:p>
        </p:txBody>
      </p:sp>
      <p:sp>
        <p:nvSpPr>
          <p:cNvPr id="11" name="Text 8"/>
          <p:cNvSpPr/>
          <p:nvPr/>
        </p:nvSpPr>
        <p:spPr>
          <a:xfrm>
            <a:off x="9747528" y="1875592"/>
            <a:ext cx="4250888" cy="575429"/>
          </a:xfrm>
          <a:prstGeom prst="rect">
            <a:avLst/>
          </a:prstGeom>
          <a:noFill/>
          <a:ln/>
        </p:spPr>
        <p:txBody>
          <a:bodyPr wrap="square" lIns="0" tIns="0" rIns="0" bIns="0" rtlCol="0" anchor="t"/>
          <a:lstStyle/>
          <a:p>
            <a:pPr marL="0" indent="0" algn="l">
              <a:lnSpc>
                <a:spcPts val="1500"/>
              </a:lnSpc>
              <a:buNone/>
            </a:pPr>
            <a:r>
              <a:rPr lang="en-US" sz="900" dirty="0">
                <a:solidFill>
                  <a:srgbClr val="C2C4B5"/>
                </a:solidFill>
                <a:latin typeface="Bitter" pitchFamily="34" charset="0"/>
                <a:ea typeface="Bitter" pitchFamily="34" charset="-122"/>
                <a:cs typeface="Bitter" pitchFamily="34" charset="-120"/>
              </a:rPr>
              <a:t>Applying our comprehensive augmentation pipeline transformed the model's performance, leading to a substantial accuracy boost and excellent generalization.</a:t>
            </a:r>
            <a:endParaRPr lang="en-US" sz="900" dirty="0"/>
          </a:p>
        </p:txBody>
      </p:sp>
      <p:sp>
        <p:nvSpPr>
          <p:cNvPr id="12" name="Text 9"/>
          <p:cNvSpPr/>
          <p:nvPr/>
        </p:nvSpPr>
        <p:spPr>
          <a:xfrm>
            <a:off x="9747528" y="2570917"/>
            <a:ext cx="4250888" cy="749498"/>
          </a:xfrm>
          <a:prstGeom prst="rect">
            <a:avLst/>
          </a:prstGeom>
          <a:noFill/>
          <a:ln/>
        </p:spPr>
        <p:txBody>
          <a:bodyPr wrap="none" lIns="0" tIns="0" rIns="0" bIns="0" rtlCol="0" anchor="t"/>
          <a:lstStyle/>
          <a:p>
            <a:pPr marL="0" indent="0" algn="l">
              <a:lnSpc>
                <a:spcPts val="5900"/>
              </a:lnSpc>
              <a:buNone/>
            </a:pPr>
            <a:r>
              <a:rPr lang="en-US" sz="4700" b="1" dirty="0">
                <a:solidFill>
                  <a:srgbClr val="E1E5CD"/>
                </a:solidFill>
                <a:latin typeface="Outfit Bold" pitchFamily="34" charset="0"/>
                <a:ea typeface="Outfit Bold" pitchFamily="34" charset="-122"/>
                <a:cs typeface="Outfit Bold" pitchFamily="34" charset="-120"/>
              </a:rPr>
              <a:t>90.35%</a:t>
            </a:r>
            <a:endParaRPr lang="en-US" sz="4700" dirty="0"/>
          </a:p>
        </p:txBody>
      </p:sp>
      <p:sp>
        <p:nvSpPr>
          <p:cNvPr id="13" name="Text 10"/>
          <p:cNvSpPr/>
          <p:nvPr/>
        </p:nvSpPr>
        <p:spPr>
          <a:xfrm>
            <a:off x="9747528" y="3440311"/>
            <a:ext cx="4250888" cy="191810"/>
          </a:xfrm>
          <a:prstGeom prst="rect">
            <a:avLst/>
          </a:prstGeom>
          <a:noFill/>
          <a:ln/>
        </p:spPr>
        <p:txBody>
          <a:bodyPr wrap="none" lIns="0" tIns="0" rIns="0" bIns="0" rtlCol="0" anchor="t"/>
          <a:lstStyle/>
          <a:p>
            <a:pPr marL="0" indent="0" algn="l">
              <a:lnSpc>
                <a:spcPts val="1500"/>
              </a:lnSpc>
              <a:buNone/>
            </a:pPr>
            <a:r>
              <a:rPr lang="en-US" sz="900" i="1" dirty="0">
                <a:solidFill>
                  <a:srgbClr val="C2C4B5"/>
                </a:solidFill>
                <a:latin typeface="Bitter" pitchFamily="34" charset="0"/>
                <a:ea typeface="Bitter" pitchFamily="34" charset="-122"/>
                <a:cs typeface="Bitter" pitchFamily="34" charset="-120"/>
              </a:rPr>
              <a:t>Excellent Generalization &amp; Robustness</a:t>
            </a:r>
            <a:endParaRPr lang="en-US" sz="900" dirty="0"/>
          </a:p>
        </p:txBody>
      </p:sp>
      <p:pic>
        <p:nvPicPr>
          <p:cNvPr id="14" name="Image 1" descr="preencoded.png"/>
          <p:cNvPicPr>
            <a:picLocks noChangeAspect="1"/>
          </p:cNvPicPr>
          <p:nvPr/>
        </p:nvPicPr>
        <p:blipFill>
          <a:blip r:embed="rId4"/>
          <a:stretch>
            <a:fillRect/>
          </a:stretch>
        </p:blipFill>
        <p:spPr>
          <a:xfrm>
            <a:off x="9747528" y="3767018"/>
            <a:ext cx="2762964" cy="2762964"/>
          </a:xfrm>
          <a:prstGeom prst="rect">
            <a:avLst/>
          </a:prstGeom>
        </p:spPr>
      </p:pic>
      <p:sp>
        <p:nvSpPr>
          <p:cNvPr id="15" name="Text 11"/>
          <p:cNvSpPr/>
          <p:nvPr/>
        </p:nvSpPr>
        <p:spPr>
          <a:xfrm>
            <a:off x="825460" y="6979563"/>
            <a:ext cx="4747617" cy="307419"/>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Outfit Bold" pitchFamily="34" charset="0"/>
                <a:ea typeface="Outfit Bold" pitchFamily="34" charset="-122"/>
                <a:cs typeface="Outfit Bold" pitchFamily="34" charset="-120"/>
              </a:rPr>
              <a:t>🎯</a:t>
            </a:r>
            <a:r>
              <a:rPr lang="en-US" sz="1850" b="1" dirty="0">
                <a:solidFill>
                  <a:srgbClr val="E1E5CD"/>
                </a:solidFill>
                <a:latin typeface="Outfit Bold" pitchFamily="34" charset="0"/>
                <a:ea typeface="Outfit Bold" pitchFamily="34" charset="-122"/>
                <a:cs typeface="Outfit Bold" pitchFamily="34" charset="-120"/>
              </a:rPr>
              <a:t> Augmentation: A </a:t>
            </a:r>
            <a:r>
              <a:rPr lang="en-US" sz="1850" b="1" dirty="0">
                <a:solidFill>
                  <a:srgbClr val="9FA582"/>
                </a:solidFill>
                <a:latin typeface="Outfit Bold" pitchFamily="34" charset="0"/>
                <a:ea typeface="Outfit Bold" pitchFamily="34" charset="-122"/>
                <a:cs typeface="Outfit Bold" pitchFamily="34" charset="-120"/>
              </a:rPr>
              <a:t>+12.35%</a:t>
            </a:r>
            <a:r>
              <a:rPr lang="en-US" sz="1850" b="1" dirty="0">
                <a:solidFill>
                  <a:srgbClr val="E1E5CD"/>
                </a:solidFill>
                <a:latin typeface="Outfit Bold" pitchFamily="34" charset="0"/>
                <a:ea typeface="Outfit Bold" pitchFamily="34" charset="-122"/>
                <a:cs typeface="Outfit Bold" pitchFamily="34" charset="-120"/>
              </a:rPr>
              <a:t> Accuracy Gain</a:t>
            </a:r>
            <a:endParaRPr lang="en-US" sz="1850" dirty="0"/>
          </a:p>
        </p:txBody>
      </p:sp>
      <p:sp>
        <p:nvSpPr>
          <p:cNvPr id="16" name="Text 12"/>
          <p:cNvSpPr/>
          <p:nvPr/>
        </p:nvSpPr>
        <p:spPr>
          <a:xfrm>
            <a:off x="825460" y="7466767"/>
            <a:ext cx="13159264" cy="383619"/>
          </a:xfrm>
          <a:prstGeom prst="rect">
            <a:avLst/>
          </a:prstGeom>
          <a:noFill/>
          <a:ln/>
        </p:spPr>
        <p:txBody>
          <a:bodyPr wrap="square" lIns="0" tIns="0" rIns="0" bIns="0" rtlCol="0" anchor="t"/>
          <a:lstStyle/>
          <a:p>
            <a:pPr marL="0" indent="0" algn="l">
              <a:lnSpc>
                <a:spcPts val="1500"/>
              </a:lnSpc>
              <a:buNone/>
            </a:pPr>
            <a:r>
              <a:rPr lang="en-US" sz="900" dirty="0">
                <a:solidFill>
                  <a:srgbClr val="C2C4B5"/>
                </a:solidFill>
                <a:latin typeface="Bitter" pitchFamily="34" charset="0"/>
                <a:ea typeface="Bitter" pitchFamily="34" charset="-122"/>
                <a:cs typeface="Bitter" pitchFamily="34" charset="-120"/>
              </a:rPr>
              <a:t>This study confirms that data augmentation was not merely an enhancement, but a </a:t>
            </a:r>
            <a:r>
              <a:rPr lang="en-US" sz="900" b="1" dirty="0">
                <a:solidFill>
                  <a:srgbClr val="C2C4B5"/>
                </a:solidFill>
                <a:latin typeface="Bitter" pitchFamily="34" charset="0"/>
                <a:ea typeface="Bitter" pitchFamily="34" charset="-122"/>
                <a:cs typeface="Bitter" pitchFamily="34" charset="-120"/>
              </a:rPr>
              <a:t>key driver of project success</a:t>
            </a:r>
            <a:r>
              <a:rPr lang="en-US" sz="900" dirty="0">
                <a:solidFill>
                  <a:srgbClr val="C2C4B5"/>
                </a:solidFill>
                <a:latin typeface="Bitter" pitchFamily="34" charset="0"/>
                <a:ea typeface="Bitter" pitchFamily="34" charset="-122"/>
                <a:cs typeface="Bitter" pitchFamily="34" charset="-120"/>
              </a:rPr>
              <a:t>, directly responsible for the significant improvement in accuracy and the model's ability to perform well on real-world, unseen data.</a:t>
            </a:r>
            <a:endParaRPr lang="en-US" sz="900" dirty="0"/>
          </a:p>
        </p:txBody>
      </p:sp>
      <p:sp>
        <p:nvSpPr>
          <p:cNvPr id="17" name="Shape 13"/>
          <p:cNvSpPr/>
          <p:nvPr/>
        </p:nvSpPr>
        <p:spPr>
          <a:xfrm>
            <a:off x="645676" y="6799778"/>
            <a:ext cx="15240" cy="1185505"/>
          </a:xfrm>
          <a:prstGeom prst="rect">
            <a:avLst/>
          </a:prstGeom>
          <a:solidFill>
            <a:srgbClr val="9FA582"/>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917138"/>
            <a:ext cx="11816834" cy="531614"/>
          </a:xfrm>
          <a:prstGeom prst="rect">
            <a:avLst/>
          </a:prstGeom>
          <a:noFill/>
          <a:ln/>
        </p:spPr>
        <p:txBody>
          <a:bodyPr wrap="none" lIns="0" tIns="0" rIns="0" bIns="0" rtlCol="0" anchor="t"/>
          <a:lstStyle/>
          <a:p>
            <a:pPr marL="0" indent="0" algn="l">
              <a:lnSpc>
                <a:spcPts val="4150"/>
              </a:lnSpc>
              <a:buNone/>
            </a:pPr>
            <a:r>
              <a:rPr lang="en-US" sz="3300" b="1" dirty="0">
                <a:solidFill>
                  <a:srgbClr val="E1E5CD"/>
                </a:solidFill>
                <a:latin typeface="Outfit Bold" pitchFamily="34" charset="0"/>
                <a:ea typeface="Outfit Bold" pitchFamily="34" charset="-122"/>
                <a:cs typeface="Outfit Bold" pitchFamily="34" charset="-120"/>
              </a:rPr>
              <a:t>Deployment Architecture: Real-time Plant Disease Detection</a:t>
            </a:r>
            <a:endParaRPr lang="en-US" sz="3300" dirty="0"/>
          </a:p>
        </p:txBody>
      </p:sp>
      <p:sp>
        <p:nvSpPr>
          <p:cNvPr id="3" name="Text 1"/>
          <p:cNvSpPr/>
          <p:nvPr/>
        </p:nvSpPr>
        <p:spPr>
          <a:xfrm>
            <a:off x="793790" y="1788914"/>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Our solution leverages a responsive Gradio web interface powered by a RAG-enabled chatbot using Groq Llama-3-8b, ensuring a seamless user experience from leaf image upload to AI-assisted diagnostics.</a:t>
            </a:r>
            <a:endParaRPr lang="en-US" sz="1300" dirty="0"/>
          </a:p>
        </p:txBody>
      </p:sp>
      <p:pic>
        <p:nvPicPr>
          <p:cNvPr id="4" name="Image 0" descr="preencoded.png"/>
          <p:cNvPicPr>
            <a:picLocks noChangeAspect="1"/>
          </p:cNvPicPr>
          <p:nvPr/>
        </p:nvPicPr>
        <p:blipFill>
          <a:blip r:embed="rId3"/>
          <a:stretch>
            <a:fillRect/>
          </a:stretch>
        </p:blipFill>
        <p:spPr>
          <a:xfrm>
            <a:off x="793790" y="2524601"/>
            <a:ext cx="6521410" cy="680442"/>
          </a:xfrm>
          <a:prstGeom prst="rect">
            <a:avLst/>
          </a:prstGeom>
        </p:spPr>
      </p:pic>
      <p:sp>
        <p:nvSpPr>
          <p:cNvPr id="5" name="Text 2"/>
          <p:cNvSpPr/>
          <p:nvPr/>
        </p:nvSpPr>
        <p:spPr>
          <a:xfrm>
            <a:off x="963811" y="337506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Upload</a:t>
            </a:r>
            <a:endParaRPr lang="en-US" sz="1650" dirty="0"/>
          </a:p>
        </p:txBody>
      </p:sp>
      <p:sp>
        <p:nvSpPr>
          <p:cNvPr id="6" name="Text 3"/>
          <p:cNvSpPr/>
          <p:nvPr/>
        </p:nvSpPr>
        <p:spPr>
          <a:xfrm>
            <a:off x="963811" y="3742849"/>
            <a:ext cx="6181368"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The user uploads a leaf image through a simple, intuitive interface.</a:t>
            </a:r>
            <a:endParaRPr lang="en-US" sz="1300" dirty="0"/>
          </a:p>
        </p:txBody>
      </p:sp>
      <p:pic>
        <p:nvPicPr>
          <p:cNvPr id="7" name="Image 1" descr="preencoded.png"/>
          <p:cNvPicPr>
            <a:picLocks noChangeAspect="1"/>
          </p:cNvPicPr>
          <p:nvPr/>
        </p:nvPicPr>
        <p:blipFill>
          <a:blip r:embed="rId4"/>
          <a:stretch>
            <a:fillRect/>
          </a:stretch>
        </p:blipFill>
        <p:spPr>
          <a:xfrm>
            <a:off x="7315200" y="2524601"/>
            <a:ext cx="6521410" cy="680442"/>
          </a:xfrm>
          <a:prstGeom prst="rect">
            <a:avLst/>
          </a:prstGeom>
        </p:spPr>
      </p:pic>
      <p:sp>
        <p:nvSpPr>
          <p:cNvPr id="8" name="Text 4"/>
          <p:cNvSpPr/>
          <p:nvPr/>
        </p:nvSpPr>
        <p:spPr>
          <a:xfrm>
            <a:off x="7485221" y="337506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Predict</a:t>
            </a:r>
            <a:endParaRPr lang="en-US" sz="1650" dirty="0"/>
          </a:p>
        </p:txBody>
      </p:sp>
      <p:sp>
        <p:nvSpPr>
          <p:cNvPr id="9" name="Text 5"/>
          <p:cNvSpPr/>
          <p:nvPr/>
        </p:nvSpPr>
        <p:spPr>
          <a:xfrm>
            <a:off x="7485221" y="3742849"/>
            <a:ext cx="6181368"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MobileNetV2 instantly classifies the plant disease with high efficiency.</a:t>
            </a:r>
            <a:endParaRPr lang="en-US" sz="1300" dirty="0"/>
          </a:p>
        </p:txBody>
      </p:sp>
      <p:pic>
        <p:nvPicPr>
          <p:cNvPr id="10" name="Image 2" descr="preencoded.png"/>
          <p:cNvPicPr>
            <a:picLocks noChangeAspect="1"/>
          </p:cNvPicPr>
          <p:nvPr/>
        </p:nvPicPr>
        <p:blipFill>
          <a:blip r:embed="rId5"/>
          <a:stretch>
            <a:fillRect/>
          </a:stretch>
        </p:blipFill>
        <p:spPr>
          <a:xfrm>
            <a:off x="793790" y="4185047"/>
            <a:ext cx="6521410" cy="680442"/>
          </a:xfrm>
          <a:prstGeom prst="rect">
            <a:avLst/>
          </a:prstGeom>
        </p:spPr>
      </p:pic>
      <p:sp>
        <p:nvSpPr>
          <p:cNvPr id="11" name="Text 6"/>
          <p:cNvSpPr/>
          <p:nvPr/>
        </p:nvSpPr>
        <p:spPr>
          <a:xfrm>
            <a:off x="963811" y="5035510"/>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Retrieve</a:t>
            </a:r>
            <a:endParaRPr lang="en-US" sz="1650" dirty="0"/>
          </a:p>
        </p:txBody>
      </p:sp>
      <p:sp>
        <p:nvSpPr>
          <p:cNvPr id="12" name="Text 7"/>
          <p:cNvSpPr/>
          <p:nvPr/>
        </p:nvSpPr>
        <p:spPr>
          <a:xfrm>
            <a:off x="963811" y="5403294"/>
            <a:ext cx="6181368"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RAG (Retrieval-Augmented Generation) fetches relevant treatment protocols.</a:t>
            </a:r>
            <a:endParaRPr lang="en-US" sz="1300" dirty="0"/>
          </a:p>
        </p:txBody>
      </p:sp>
      <p:pic>
        <p:nvPicPr>
          <p:cNvPr id="13" name="Image 3" descr="preencoded.png"/>
          <p:cNvPicPr>
            <a:picLocks noChangeAspect="1"/>
          </p:cNvPicPr>
          <p:nvPr/>
        </p:nvPicPr>
        <p:blipFill>
          <a:blip r:embed="rId6"/>
          <a:stretch>
            <a:fillRect/>
          </a:stretch>
        </p:blipFill>
        <p:spPr>
          <a:xfrm>
            <a:off x="7315200" y="4185047"/>
            <a:ext cx="6521410" cy="680442"/>
          </a:xfrm>
          <a:prstGeom prst="rect">
            <a:avLst/>
          </a:prstGeom>
        </p:spPr>
      </p:pic>
      <p:sp>
        <p:nvSpPr>
          <p:cNvPr id="14" name="Text 8"/>
          <p:cNvSpPr/>
          <p:nvPr/>
        </p:nvSpPr>
        <p:spPr>
          <a:xfrm>
            <a:off x="7485221" y="5035510"/>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Assist</a:t>
            </a:r>
            <a:endParaRPr lang="en-US" sz="1650" dirty="0"/>
          </a:p>
        </p:txBody>
      </p:sp>
      <p:sp>
        <p:nvSpPr>
          <p:cNvPr id="15" name="Text 9"/>
          <p:cNvSpPr/>
          <p:nvPr/>
        </p:nvSpPr>
        <p:spPr>
          <a:xfrm>
            <a:off x="7485221" y="5403294"/>
            <a:ext cx="6181368"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An AI chatbot provides Q&amp;A support for comprehensive guidance.</a:t>
            </a:r>
            <a:endParaRPr lang="en-US" sz="1300" dirty="0"/>
          </a:p>
        </p:txBody>
      </p:sp>
      <p:sp>
        <p:nvSpPr>
          <p:cNvPr id="16" name="Text 10"/>
          <p:cNvSpPr/>
          <p:nvPr/>
        </p:nvSpPr>
        <p:spPr>
          <a:xfrm>
            <a:off x="793790" y="6189821"/>
            <a:ext cx="6313884" cy="272177"/>
          </a:xfrm>
          <a:prstGeom prst="rect">
            <a:avLst/>
          </a:prstGeom>
          <a:noFill/>
          <a:ln/>
        </p:spPr>
        <p:txBody>
          <a:bodyPr wrap="none" lIns="0" tIns="0" rIns="0" bIns="0" rtlCol="0" anchor="t"/>
          <a:lstStyle/>
          <a:p>
            <a:pPr marL="0" indent="0" algn="l">
              <a:lnSpc>
                <a:spcPts val="2100"/>
              </a:lnSpc>
              <a:buNone/>
            </a:pPr>
            <a:r>
              <a:rPr lang="en-US" sz="1300" b="1" dirty="0">
                <a:solidFill>
                  <a:srgbClr val="000000"/>
                </a:solidFill>
                <a:latin typeface="Bitter" pitchFamily="34" charset="0"/>
                <a:ea typeface="Bitter" pitchFamily="34" charset="-122"/>
                <a:cs typeface="Bitter" pitchFamily="34" charset="-120"/>
              </a:rPr>
              <a:t>⚡</a:t>
            </a:r>
            <a:r>
              <a:rPr lang="en-US" sz="1300" dirty="0">
                <a:solidFill>
                  <a:srgbClr val="C2C4B5"/>
                </a:solidFill>
                <a:latin typeface="Bitter" pitchFamily="34" charset="0"/>
                <a:ea typeface="Bitter" pitchFamily="34" charset="-122"/>
                <a:cs typeface="Bitter" pitchFamily="34" charset="-120"/>
              </a:rPr>
              <a:t> Real-time Inference: Sub-50ms response for immediate feedback.</a:t>
            </a:r>
            <a:endParaRPr lang="en-US" sz="1300" dirty="0"/>
          </a:p>
        </p:txBody>
      </p:sp>
      <p:sp>
        <p:nvSpPr>
          <p:cNvPr id="17" name="Text 11"/>
          <p:cNvSpPr/>
          <p:nvPr/>
        </p:nvSpPr>
        <p:spPr>
          <a:xfrm>
            <a:off x="793790" y="6614993"/>
            <a:ext cx="6313884" cy="272177"/>
          </a:xfrm>
          <a:prstGeom prst="rect">
            <a:avLst/>
          </a:prstGeom>
          <a:noFill/>
          <a:ln/>
        </p:spPr>
        <p:txBody>
          <a:bodyPr wrap="none" lIns="0" tIns="0" rIns="0" bIns="0" rtlCol="0" anchor="t"/>
          <a:lstStyle/>
          <a:p>
            <a:pPr marL="0" indent="0" algn="l">
              <a:lnSpc>
                <a:spcPts val="2100"/>
              </a:lnSpc>
              <a:buNone/>
            </a:pPr>
            <a:r>
              <a:rPr lang="en-US" sz="1300" b="1" dirty="0">
                <a:solidFill>
                  <a:srgbClr val="000000"/>
                </a:solidFill>
                <a:latin typeface="Bitter" pitchFamily="34" charset="0"/>
                <a:ea typeface="Bitter" pitchFamily="34" charset="-122"/>
                <a:cs typeface="Bitter" pitchFamily="34" charset="-120"/>
              </a:rPr>
              <a:t>🌐</a:t>
            </a:r>
            <a:r>
              <a:rPr lang="en-US" sz="1300" dirty="0">
                <a:solidFill>
                  <a:srgbClr val="C2C4B5"/>
                </a:solidFill>
                <a:latin typeface="Bitter" pitchFamily="34" charset="0"/>
                <a:ea typeface="Bitter" pitchFamily="34" charset="-122"/>
                <a:cs typeface="Bitter" pitchFamily="34" charset="-120"/>
              </a:rPr>
              <a:t> Public URL: 72-hour availability for easy access and testing.</a:t>
            </a:r>
            <a:endParaRPr lang="en-US" sz="1300" dirty="0"/>
          </a:p>
        </p:txBody>
      </p:sp>
      <p:sp>
        <p:nvSpPr>
          <p:cNvPr id="18" name="Text 12"/>
          <p:cNvSpPr/>
          <p:nvPr/>
        </p:nvSpPr>
        <p:spPr>
          <a:xfrm>
            <a:off x="7530346" y="6189821"/>
            <a:ext cx="6313884" cy="272177"/>
          </a:xfrm>
          <a:prstGeom prst="rect">
            <a:avLst/>
          </a:prstGeom>
          <a:noFill/>
          <a:ln/>
        </p:spPr>
        <p:txBody>
          <a:bodyPr wrap="none" lIns="0" tIns="0" rIns="0" bIns="0" rtlCol="0" anchor="t"/>
          <a:lstStyle/>
          <a:p>
            <a:pPr marL="0" indent="0" algn="l">
              <a:lnSpc>
                <a:spcPts val="2100"/>
              </a:lnSpc>
              <a:buNone/>
            </a:pPr>
            <a:r>
              <a:rPr lang="en-US" sz="1300" b="1" dirty="0">
                <a:solidFill>
                  <a:srgbClr val="000000"/>
                </a:solidFill>
                <a:latin typeface="Bitter" pitchFamily="34" charset="0"/>
                <a:ea typeface="Bitter" pitchFamily="34" charset="-122"/>
                <a:cs typeface="Bitter" pitchFamily="34" charset="-120"/>
              </a:rPr>
              <a:t>⚠️</a:t>
            </a:r>
            <a:r>
              <a:rPr lang="en-US" sz="1300" dirty="0">
                <a:solidFill>
                  <a:srgbClr val="C2C4B5"/>
                </a:solidFill>
                <a:latin typeface="Bitter" pitchFamily="34" charset="0"/>
                <a:ea typeface="Bitter" pitchFamily="34" charset="-122"/>
                <a:cs typeface="Bitter" pitchFamily="34" charset="-120"/>
              </a:rPr>
              <a:t> Confidence Warnings: Alerts for diagnoses with less than 60% confidence.</a:t>
            </a:r>
            <a:endParaRPr lang="en-US" sz="1300" dirty="0"/>
          </a:p>
        </p:txBody>
      </p:sp>
      <p:sp>
        <p:nvSpPr>
          <p:cNvPr id="19" name="Text 13"/>
          <p:cNvSpPr/>
          <p:nvPr/>
        </p:nvSpPr>
        <p:spPr>
          <a:xfrm>
            <a:off x="7530346" y="6614993"/>
            <a:ext cx="6313884" cy="544354"/>
          </a:xfrm>
          <a:prstGeom prst="rect">
            <a:avLst/>
          </a:prstGeom>
          <a:noFill/>
          <a:ln/>
        </p:spPr>
        <p:txBody>
          <a:bodyPr wrap="square" lIns="0" tIns="0" rIns="0" bIns="0" rtlCol="0" anchor="t"/>
          <a:lstStyle/>
          <a:p>
            <a:pPr marL="0" indent="0" algn="l">
              <a:lnSpc>
                <a:spcPts val="2100"/>
              </a:lnSpc>
              <a:buNone/>
            </a:pPr>
            <a:r>
              <a:rPr lang="en-US" sz="1300" b="1" dirty="0">
                <a:solidFill>
                  <a:srgbClr val="000000"/>
                </a:solidFill>
                <a:latin typeface="Bitter" pitchFamily="34" charset="0"/>
                <a:ea typeface="Bitter" pitchFamily="34" charset="-122"/>
                <a:cs typeface="Bitter" pitchFamily="34" charset="-120"/>
              </a:rPr>
              <a:t>📱</a:t>
            </a:r>
            <a:r>
              <a:rPr lang="en-US" sz="1300" dirty="0">
                <a:solidFill>
                  <a:srgbClr val="C2C4B5"/>
                </a:solidFill>
                <a:latin typeface="Bitter" pitchFamily="34" charset="0"/>
                <a:ea typeface="Bitter" pitchFamily="34" charset="-122"/>
                <a:cs typeface="Bitter" pitchFamily="34" charset="-120"/>
              </a:rPr>
              <a:t> Mobile Ready: An 11 MB model size ensures quick downloads and smooth performance on mobile devices.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54487"/>
            <a:ext cx="9501426"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Intuitive User Interface &amp; Experience</a:t>
            </a:r>
            <a:endParaRPr lang="en-US" sz="4450" dirty="0"/>
          </a:p>
        </p:txBody>
      </p:sp>
      <p:sp>
        <p:nvSpPr>
          <p:cNvPr id="3" name="Text 1"/>
          <p:cNvSpPr/>
          <p:nvPr/>
        </p:nvSpPr>
        <p:spPr>
          <a:xfrm>
            <a:off x="793790" y="181689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Designed for ease of use, our interface simplifies the diagnostic process while providing robust feedback and support, ensuring a positive user experience across all devices.</a:t>
            </a:r>
            <a:endParaRPr lang="en-US" sz="1750" dirty="0"/>
          </a:p>
        </p:txBody>
      </p:sp>
      <p:sp>
        <p:nvSpPr>
          <p:cNvPr id="4" name="Shape 2"/>
          <p:cNvSpPr/>
          <p:nvPr/>
        </p:nvSpPr>
        <p:spPr>
          <a:xfrm>
            <a:off x="793790" y="2797850"/>
            <a:ext cx="4196358" cy="2093714"/>
          </a:xfrm>
          <a:prstGeom prst="roundRect">
            <a:avLst>
              <a:gd name="adj" fmla="val 6988"/>
            </a:avLst>
          </a:prstGeom>
          <a:solidFill>
            <a:srgbClr val="1C1D1F"/>
          </a:solidFill>
          <a:ln w="30480">
            <a:solidFill>
              <a:srgbClr val="545557"/>
            </a:solidFill>
            <a:prstDash val="solid"/>
          </a:ln>
        </p:spPr>
      </p:sp>
      <p:sp>
        <p:nvSpPr>
          <p:cNvPr id="5" name="Shape 3"/>
          <p:cNvSpPr/>
          <p:nvPr/>
        </p:nvSpPr>
        <p:spPr>
          <a:xfrm>
            <a:off x="763310" y="2797850"/>
            <a:ext cx="121920" cy="2093714"/>
          </a:xfrm>
          <a:prstGeom prst="roundRect">
            <a:avLst>
              <a:gd name="adj" fmla="val 27907"/>
            </a:avLst>
          </a:prstGeom>
          <a:solidFill>
            <a:srgbClr val="9FA582"/>
          </a:solidFill>
          <a:ln/>
        </p:spPr>
      </p:sp>
      <p:sp>
        <p:nvSpPr>
          <p:cNvPr id="6" name="Text 4"/>
          <p:cNvSpPr/>
          <p:nvPr/>
        </p:nvSpPr>
        <p:spPr>
          <a:xfrm>
            <a:off x="1142524" y="305514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a:t>
            </a:r>
            <a:r>
              <a:rPr lang="en-US" sz="2200" b="1" dirty="0">
                <a:solidFill>
                  <a:srgbClr val="C2C4B5"/>
                </a:solidFill>
                <a:latin typeface="Outfit Bold" pitchFamily="34" charset="0"/>
                <a:ea typeface="Outfit Bold" pitchFamily="34" charset="-122"/>
                <a:cs typeface="Outfit Bold" pitchFamily="34" charset="-120"/>
              </a:rPr>
              <a:t> Drag &amp; Drop</a:t>
            </a:r>
            <a:endParaRPr lang="en-US" sz="2200" dirty="0"/>
          </a:p>
        </p:txBody>
      </p:sp>
      <p:sp>
        <p:nvSpPr>
          <p:cNvPr id="7" name="Text 5"/>
          <p:cNvSpPr/>
          <p:nvPr/>
        </p:nvSpPr>
        <p:spPr>
          <a:xfrm>
            <a:off x="1142524" y="354556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Effortless image uploading with a user-friendly drag-and-drop mechanism.</a:t>
            </a:r>
            <a:endParaRPr lang="en-US" sz="1750" dirty="0"/>
          </a:p>
        </p:txBody>
      </p:sp>
      <p:sp>
        <p:nvSpPr>
          <p:cNvPr id="8" name="Shape 6"/>
          <p:cNvSpPr/>
          <p:nvPr/>
        </p:nvSpPr>
        <p:spPr>
          <a:xfrm>
            <a:off x="5216962" y="2797850"/>
            <a:ext cx="4196358" cy="2093714"/>
          </a:xfrm>
          <a:prstGeom prst="roundRect">
            <a:avLst>
              <a:gd name="adj" fmla="val 6988"/>
            </a:avLst>
          </a:prstGeom>
          <a:solidFill>
            <a:srgbClr val="1C1D1F"/>
          </a:solidFill>
          <a:ln w="30480">
            <a:solidFill>
              <a:srgbClr val="545557"/>
            </a:solidFill>
            <a:prstDash val="solid"/>
          </a:ln>
        </p:spPr>
      </p:sp>
      <p:sp>
        <p:nvSpPr>
          <p:cNvPr id="9" name="Shape 7"/>
          <p:cNvSpPr/>
          <p:nvPr/>
        </p:nvSpPr>
        <p:spPr>
          <a:xfrm>
            <a:off x="5186482" y="2797850"/>
            <a:ext cx="121920" cy="2093714"/>
          </a:xfrm>
          <a:prstGeom prst="roundRect">
            <a:avLst>
              <a:gd name="adj" fmla="val 27907"/>
            </a:avLst>
          </a:prstGeom>
          <a:solidFill>
            <a:srgbClr val="9FA582"/>
          </a:solidFill>
          <a:ln/>
        </p:spPr>
      </p:sp>
      <p:sp>
        <p:nvSpPr>
          <p:cNvPr id="10" name="Text 8"/>
          <p:cNvSpPr/>
          <p:nvPr/>
        </p:nvSpPr>
        <p:spPr>
          <a:xfrm>
            <a:off x="5565696" y="305514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a:t>
            </a:r>
            <a:r>
              <a:rPr lang="en-US" sz="2200" b="1" dirty="0">
                <a:solidFill>
                  <a:srgbClr val="C2C4B5"/>
                </a:solidFill>
                <a:latin typeface="Outfit Bold" pitchFamily="34" charset="0"/>
                <a:ea typeface="Outfit Bold" pitchFamily="34" charset="-122"/>
                <a:cs typeface="Outfit Bold" pitchFamily="34" charset="-120"/>
              </a:rPr>
              <a:t> Confidence Meter</a:t>
            </a:r>
            <a:endParaRPr lang="en-US" sz="2200" dirty="0"/>
          </a:p>
        </p:txBody>
      </p:sp>
      <p:sp>
        <p:nvSpPr>
          <p:cNvPr id="11" name="Text 9"/>
          <p:cNvSpPr/>
          <p:nvPr/>
        </p:nvSpPr>
        <p:spPr>
          <a:xfrm>
            <a:off x="5565696" y="354556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Immediate visual feedback on prediction accuracy helps users assess reliability.</a:t>
            </a:r>
            <a:endParaRPr lang="en-US" sz="1750" dirty="0"/>
          </a:p>
        </p:txBody>
      </p:sp>
      <p:sp>
        <p:nvSpPr>
          <p:cNvPr id="12" name="Shape 10"/>
          <p:cNvSpPr/>
          <p:nvPr/>
        </p:nvSpPr>
        <p:spPr>
          <a:xfrm>
            <a:off x="9640133" y="2797850"/>
            <a:ext cx="4196358" cy="2093714"/>
          </a:xfrm>
          <a:prstGeom prst="roundRect">
            <a:avLst>
              <a:gd name="adj" fmla="val 6988"/>
            </a:avLst>
          </a:prstGeom>
          <a:solidFill>
            <a:srgbClr val="1C1D1F"/>
          </a:solidFill>
          <a:ln w="30480">
            <a:solidFill>
              <a:srgbClr val="545557"/>
            </a:solidFill>
            <a:prstDash val="solid"/>
          </a:ln>
        </p:spPr>
      </p:sp>
      <p:sp>
        <p:nvSpPr>
          <p:cNvPr id="13" name="Shape 11"/>
          <p:cNvSpPr/>
          <p:nvPr/>
        </p:nvSpPr>
        <p:spPr>
          <a:xfrm>
            <a:off x="9609653" y="2797850"/>
            <a:ext cx="121920" cy="2093714"/>
          </a:xfrm>
          <a:prstGeom prst="roundRect">
            <a:avLst>
              <a:gd name="adj" fmla="val 27907"/>
            </a:avLst>
          </a:prstGeom>
          <a:solidFill>
            <a:srgbClr val="9FA582"/>
          </a:solidFill>
          <a:ln/>
        </p:spPr>
      </p:sp>
      <p:sp>
        <p:nvSpPr>
          <p:cNvPr id="14" name="Text 12"/>
          <p:cNvSpPr/>
          <p:nvPr/>
        </p:nvSpPr>
        <p:spPr>
          <a:xfrm>
            <a:off x="9988868" y="305514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a:t>
            </a:r>
            <a:r>
              <a:rPr lang="en-US" sz="2200" b="1" dirty="0">
                <a:solidFill>
                  <a:srgbClr val="C2C4B5"/>
                </a:solidFill>
                <a:latin typeface="Outfit Bold" pitchFamily="34" charset="0"/>
                <a:ea typeface="Outfit Bold" pitchFamily="34" charset="-122"/>
                <a:cs typeface="Outfit Bold" pitchFamily="34" charset="-120"/>
              </a:rPr>
              <a:t> AI Chatbot</a:t>
            </a:r>
            <a:endParaRPr lang="en-US" sz="2200" dirty="0"/>
          </a:p>
        </p:txBody>
      </p:sp>
      <p:sp>
        <p:nvSpPr>
          <p:cNvPr id="15" name="Text 13"/>
          <p:cNvSpPr/>
          <p:nvPr/>
        </p:nvSpPr>
        <p:spPr>
          <a:xfrm>
            <a:off x="9988868" y="354556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Integrated for interactive Q&amp;A, providing detailed treatment information and advice.</a:t>
            </a:r>
            <a:endParaRPr lang="en-US" sz="1750" dirty="0"/>
          </a:p>
        </p:txBody>
      </p:sp>
      <p:sp>
        <p:nvSpPr>
          <p:cNvPr id="16" name="Shape 14"/>
          <p:cNvSpPr/>
          <p:nvPr/>
        </p:nvSpPr>
        <p:spPr>
          <a:xfrm>
            <a:off x="793790" y="5118378"/>
            <a:ext cx="4196358" cy="2456617"/>
          </a:xfrm>
          <a:prstGeom prst="roundRect">
            <a:avLst>
              <a:gd name="adj" fmla="val 5956"/>
            </a:avLst>
          </a:prstGeom>
          <a:solidFill>
            <a:srgbClr val="1C1D1F"/>
          </a:solidFill>
          <a:ln w="30480">
            <a:solidFill>
              <a:srgbClr val="545557"/>
            </a:solidFill>
            <a:prstDash val="solid"/>
          </a:ln>
        </p:spPr>
      </p:sp>
      <p:sp>
        <p:nvSpPr>
          <p:cNvPr id="17" name="Shape 15"/>
          <p:cNvSpPr/>
          <p:nvPr/>
        </p:nvSpPr>
        <p:spPr>
          <a:xfrm>
            <a:off x="763310" y="5118378"/>
            <a:ext cx="121920" cy="2456617"/>
          </a:xfrm>
          <a:prstGeom prst="roundRect">
            <a:avLst>
              <a:gd name="adj" fmla="val 27907"/>
            </a:avLst>
          </a:prstGeom>
          <a:solidFill>
            <a:srgbClr val="9FA582"/>
          </a:solidFill>
          <a:ln/>
        </p:spPr>
      </p:sp>
      <p:sp>
        <p:nvSpPr>
          <p:cNvPr id="18" name="Text 16"/>
          <p:cNvSpPr/>
          <p:nvPr/>
        </p:nvSpPr>
        <p:spPr>
          <a:xfrm>
            <a:off x="1142524" y="53756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a:t>
            </a:r>
            <a:r>
              <a:rPr lang="en-US" sz="2200" b="1" dirty="0">
                <a:solidFill>
                  <a:srgbClr val="C2C4B5"/>
                </a:solidFill>
                <a:latin typeface="Outfit Bold" pitchFamily="34" charset="0"/>
                <a:ea typeface="Outfit Bold" pitchFamily="34" charset="-122"/>
                <a:cs typeface="Outfit Bold" pitchFamily="34" charset="-120"/>
              </a:rPr>
              <a:t> Safety Guardrails</a:t>
            </a:r>
            <a:endParaRPr lang="en-US" sz="2200" dirty="0"/>
          </a:p>
        </p:txBody>
      </p:sp>
      <p:sp>
        <p:nvSpPr>
          <p:cNvPr id="19" name="Text 17"/>
          <p:cNvSpPr/>
          <p:nvPr/>
        </p:nvSpPr>
        <p:spPr>
          <a:xfrm>
            <a:off x="1142524" y="5866090"/>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Proactive alerts for low-confidence diagnoses, guiding users to seek expert help when necessary.</a:t>
            </a:r>
            <a:endParaRPr lang="en-US" sz="1750" dirty="0"/>
          </a:p>
        </p:txBody>
      </p:sp>
      <p:sp>
        <p:nvSpPr>
          <p:cNvPr id="20" name="Shape 18"/>
          <p:cNvSpPr/>
          <p:nvPr/>
        </p:nvSpPr>
        <p:spPr>
          <a:xfrm>
            <a:off x="5216962" y="5118378"/>
            <a:ext cx="4196358" cy="2456617"/>
          </a:xfrm>
          <a:prstGeom prst="roundRect">
            <a:avLst>
              <a:gd name="adj" fmla="val 5956"/>
            </a:avLst>
          </a:prstGeom>
          <a:solidFill>
            <a:srgbClr val="1C1D1F"/>
          </a:solidFill>
          <a:ln w="30480">
            <a:solidFill>
              <a:srgbClr val="545557"/>
            </a:solidFill>
            <a:prstDash val="solid"/>
          </a:ln>
        </p:spPr>
      </p:sp>
      <p:sp>
        <p:nvSpPr>
          <p:cNvPr id="21" name="Shape 19"/>
          <p:cNvSpPr/>
          <p:nvPr/>
        </p:nvSpPr>
        <p:spPr>
          <a:xfrm>
            <a:off x="5186482" y="5118378"/>
            <a:ext cx="121920" cy="2456617"/>
          </a:xfrm>
          <a:prstGeom prst="roundRect">
            <a:avLst>
              <a:gd name="adj" fmla="val 27907"/>
            </a:avLst>
          </a:prstGeom>
          <a:solidFill>
            <a:srgbClr val="9FA582"/>
          </a:solidFill>
          <a:ln/>
        </p:spPr>
      </p:sp>
      <p:sp>
        <p:nvSpPr>
          <p:cNvPr id="22" name="Text 20"/>
          <p:cNvSpPr/>
          <p:nvPr/>
        </p:nvSpPr>
        <p:spPr>
          <a:xfrm>
            <a:off x="5565696" y="53756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Outfit Bold" pitchFamily="34" charset="0"/>
                <a:ea typeface="Outfit Bold" pitchFamily="34" charset="-122"/>
                <a:cs typeface="Outfit Bold" pitchFamily="34" charset="-120"/>
              </a:rPr>
              <a:t>📱</a:t>
            </a:r>
            <a:r>
              <a:rPr lang="en-US" sz="2200" b="1" dirty="0">
                <a:solidFill>
                  <a:srgbClr val="C2C4B5"/>
                </a:solidFill>
                <a:latin typeface="Outfit Bold" pitchFamily="34" charset="0"/>
                <a:ea typeface="Outfit Bold" pitchFamily="34" charset="-122"/>
                <a:cs typeface="Outfit Bold" pitchFamily="34" charset="-120"/>
              </a:rPr>
              <a:t> Mobile Responsive</a:t>
            </a:r>
            <a:endParaRPr lang="en-US" sz="2200" dirty="0"/>
          </a:p>
        </p:txBody>
      </p:sp>
      <p:sp>
        <p:nvSpPr>
          <p:cNvPr id="23" name="Text 21"/>
          <p:cNvSpPr/>
          <p:nvPr/>
        </p:nvSpPr>
        <p:spPr>
          <a:xfrm>
            <a:off x="5565696" y="5866090"/>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Optimized for all screen sizes, guaranteeing accessibility and functionality on any device.</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79475" y="623887"/>
            <a:ext cx="4649510" cy="495657"/>
          </a:xfrm>
          <a:prstGeom prst="rect">
            <a:avLst/>
          </a:prstGeom>
          <a:noFill/>
          <a:ln/>
        </p:spPr>
        <p:txBody>
          <a:bodyPr wrap="none" lIns="0" tIns="0" rIns="0" bIns="0" rtlCol="0" anchor="t"/>
          <a:lstStyle/>
          <a:p>
            <a:pPr marL="0" indent="0" algn="l">
              <a:lnSpc>
                <a:spcPts val="3900"/>
              </a:lnSpc>
              <a:buNone/>
            </a:pPr>
            <a:r>
              <a:rPr lang="en-US" sz="3100" b="1" dirty="0">
                <a:solidFill>
                  <a:srgbClr val="E1E5CD"/>
                </a:solidFill>
                <a:latin typeface="Outfit Bold" pitchFamily="34" charset="0"/>
                <a:ea typeface="Outfit Bold" pitchFamily="34" charset="-122"/>
                <a:cs typeface="Outfit Bold" pitchFamily="34" charset="-120"/>
              </a:rPr>
              <a:t>Conclusion &amp; Future Work</a:t>
            </a:r>
            <a:endParaRPr lang="en-US" sz="3100" dirty="0"/>
          </a:p>
        </p:txBody>
      </p:sp>
      <p:sp>
        <p:nvSpPr>
          <p:cNvPr id="4" name="Text 1"/>
          <p:cNvSpPr/>
          <p:nvPr/>
        </p:nvSpPr>
        <p:spPr>
          <a:xfrm>
            <a:off x="6279475" y="1357432"/>
            <a:ext cx="7557849" cy="507444"/>
          </a:xfrm>
          <a:prstGeom prst="rect">
            <a:avLst/>
          </a:prstGeom>
          <a:noFill/>
          <a:ln/>
        </p:spPr>
        <p:txBody>
          <a:bodyPr wrap="square" lIns="0" tIns="0" rIns="0" bIns="0" rtlCol="0" anchor="t"/>
          <a:lstStyle/>
          <a:p>
            <a:pPr marL="0" indent="0" algn="l">
              <a:lnSpc>
                <a:spcPts val="1950"/>
              </a:lnSpc>
              <a:buNone/>
            </a:pPr>
            <a:r>
              <a:rPr lang="en-US" sz="1200" dirty="0">
                <a:solidFill>
                  <a:srgbClr val="C2C4B5"/>
                </a:solidFill>
                <a:latin typeface="Bitter" pitchFamily="34" charset="0"/>
                <a:ea typeface="Bitter" pitchFamily="34" charset="-122"/>
                <a:cs typeface="Bitter" pitchFamily="34" charset="-120"/>
              </a:rPr>
              <a:t>Our project successfully demonstrates the power of AI in agricultural tech, with promising avenues for further development and expansion.</a:t>
            </a:r>
            <a:endParaRPr lang="en-US" sz="1200" dirty="0"/>
          </a:p>
        </p:txBody>
      </p:sp>
      <p:sp>
        <p:nvSpPr>
          <p:cNvPr id="5" name="Shape 2"/>
          <p:cNvSpPr/>
          <p:nvPr/>
        </p:nvSpPr>
        <p:spPr>
          <a:xfrm>
            <a:off x="6279475" y="2043232"/>
            <a:ext cx="3699629" cy="3237071"/>
          </a:xfrm>
          <a:prstGeom prst="roundRect">
            <a:avLst>
              <a:gd name="adj" fmla="val 735"/>
            </a:avLst>
          </a:prstGeom>
          <a:solidFill>
            <a:srgbClr val="3B3C3E"/>
          </a:solidFill>
          <a:ln/>
        </p:spPr>
      </p:sp>
      <p:sp>
        <p:nvSpPr>
          <p:cNvPr id="6" name="Shape 3"/>
          <p:cNvSpPr/>
          <p:nvPr/>
        </p:nvSpPr>
        <p:spPr>
          <a:xfrm>
            <a:off x="6438067" y="2201823"/>
            <a:ext cx="475893" cy="475893"/>
          </a:xfrm>
          <a:prstGeom prst="roundRect">
            <a:avLst>
              <a:gd name="adj" fmla="val 19212482"/>
            </a:avLst>
          </a:prstGeom>
          <a:solidFill>
            <a:srgbClr val="9FA582"/>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68916" y="2332673"/>
            <a:ext cx="214074" cy="214074"/>
          </a:xfrm>
          <a:prstGeom prst="rect">
            <a:avLst/>
          </a:prstGeom>
        </p:spPr>
      </p:pic>
      <p:sp>
        <p:nvSpPr>
          <p:cNvPr id="8" name="Text 4"/>
          <p:cNvSpPr/>
          <p:nvPr/>
        </p:nvSpPr>
        <p:spPr>
          <a:xfrm>
            <a:off x="6438067" y="2836307"/>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Achievements</a:t>
            </a:r>
            <a:endParaRPr lang="en-US" sz="1550" dirty="0"/>
          </a:p>
        </p:txBody>
      </p:sp>
      <p:sp>
        <p:nvSpPr>
          <p:cNvPr id="9" name="Text 5"/>
          <p:cNvSpPr/>
          <p:nvPr/>
        </p:nvSpPr>
        <p:spPr>
          <a:xfrm>
            <a:off x="6438067" y="3179207"/>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CRISP-DM methodology applied for structured development.</a:t>
            </a:r>
            <a:endParaRPr lang="en-US" sz="1200" dirty="0"/>
          </a:p>
        </p:txBody>
      </p:sp>
      <p:sp>
        <p:nvSpPr>
          <p:cNvPr id="10" name="Text 6"/>
          <p:cNvSpPr/>
          <p:nvPr/>
        </p:nvSpPr>
        <p:spPr>
          <a:xfrm>
            <a:off x="6438067" y="3742134"/>
            <a:ext cx="3382447" cy="2537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Achieved 90.35% diagnostic accuracy.</a:t>
            </a:r>
            <a:endParaRPr lang="en-US" sz="1200" dirty="0"/>
          </a:p>
        </p:txBody>
      </p:sp>
      <p:sp>
        <p:nvSpPr>
          <p:cNvPr id="11" name="Text 7"/>
          <p:cNvSpPr/>
          <p:nvPr/>
        </p:nvSpPr>
        <p:spPr>
          <a:xfrm>
            <a:off x="6438067" y="4051340"/>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Developed an 11MB lightweight model for efficiency.</a:t>
            </a:r>
            <a:endParaRPr lang="en-US" sz="1200" dirty="0"/>
          </a:p>
        </p:txBody>
      </p:sp>
      <p:sp>
        <p:nvSpPr>
          <p:cNvPr id="12" name="Text 8"/>
          <p:cNvSpPr/>
          <p:nvPr/>
        </p:nvSpPr>
        <p:spPr>
          <a:xfrm>
            <a:off x="6438067" y="4614267"/>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Seamless GenAI integration for enhanced capabilities.</a:t>
            </a:r>
            <a:endParaRPr lang="en-US" sz="1200" dirty="0"/>
          </a:p>
        </p:txBody>
      </p:sp>
      <p:sp>
        <p:nvSpPr>
          <p:cNvPr id="13" name="Shape 9"/>
          <p:cNvSpPr/>
          <p:nvPr/>
        </p:nvSpPr>
        <p:spPr>
          <a:xfrm>
            <a:off x="10137696" y="2043232"/>
            <a:ext cx="3699629" cy="3237071"/>
          </a:xfrm>
          <a:prstGeom prst="roundRect">
            <a:avLst>
              <a:gd name="adj" fmla="val 735"/>
            </a:avLst>
          </a:prstGeom>
          <a:solidFill>
            <a:srgbClr val="3B3C3E"/>
          </a:solidFill>
          <a:ln/>
        </p:spPr>
      </p:sp>
      <p:sp>
        <p:nvSpPr>
          <p:cNvPr id="14" name="Shape 10"/>
          <p:cNvSpPr/>
          <p:nvPr/>
        </p:nvSpPr>
        <p:spPr>
          <a:xfrm>
            <a:off x="10296287" y="2201823"/>
            <a:ext cx="475893" cy="475893"/>
          </a:xfrm>
          <a:prstGeom prst="roundRect">
            <a:avLst>
              <a:gd name="adj" fmla="val 19212482"/>
            </a:avLst>
          </a:prstGeom>
          <a:solidFill>
            <a:srgbClr val="9FA582"/>
          </a:solidFill>
          <a:ln/>
        </p:spPr>
      </p:sp>
      <p:pic>
        <p:nvPicPr>
          <p:cNvPr id="15"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7137" y="2332673"/>
            <a:ext cx="214074" cy="214074"/>
          </a:xfrm>
          <a:prstGeom prst="rect">
            <a:avLst/>
          </a:prstGeom>
        </p:spPr>
      </p:pic>
      <p:sp>
        <p:nvSpPr>
          <p:cNvPr id="16" name="Text 11"/>
          <p:cNvSpPr/>
          <p:nvPr/>
        </p:nvSpPr>
        <p:spPr>
          <a:xfrm>
            <a:off x="10296287" y="2836307"/>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Lessons Learned</a:t>
            </a:r>
            <a:endParaRPr lang="en-US" sz="1550" dirty="0"/>
          </a:p>
        </p:txBody>
      </p:sp>
      <p:sp>
        <p:nvSpPr>
          <p:cNvPr id="17" name="Text 12"/>
          <p:cNvSpPr/>
          <p:nvPr/>
        </p:nvSpPr>
        <p:spPr>
          <a:xfrm>
            <a:off x="10296287" y="3179207"/>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Data augmentation increased accuracy by +12%.</a:t>
            </a:r>
            <a:endParaRPr lang="en-US" sz="1200" dirty="0"/>
          </a:p>
        </p:txBody>
      </p:sp>
      <p:sp>
        <p:nvSpPr>
          <p:cNvPr id="18" name="Text 13"/>
          <p:cNvSpPr/>
          <p:nvPr/>
        </p:nvSpPr>
        <p:spPr>
          <a:xfrm>
            <a:off x="10296287" y="3742134"/>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Validated effectiveness of transfer learning techniques.</a:t>
            </a:r>
            <a:endParaRPr lang="en-US" sz="1200" dirty="0"/>
          </a:p>
        </p:txBody>
      </p:sp>
      <p:sp>
        <p:nvSpPr>
          <p:cNvPr id="19" name="Text 14"/>
          <p:cNvSpPr/>
          <p:nvPr/>
        </p:nvSpPr>
        <p:spPr>
          <a:xfrm>
            <a:off x="10296287" y="4305062"/>
            <a:ext cx="3382447" cy="507444"/>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Emphasized the critical importance of validation over training accuracy.</a:t>
            </a:r>
            <a:endParaRPr lang="en-US" sz="1200" dirty="0"/>
          </a:p>
        </p:txBody>
      </p:sp>
      <p:sp>
        <p:nvSpPr>
          <p:cNvPr id="20" name="Shape 15"/>
          <p:cNvSpPr/>
          <p:nvPr/>
        </p:nvSpPr>
        <p:spPr>
          <a:xfrm>
            <a:off x="6279475" y="5438894"/>
            <a:ext cx="7557849" cy="2166699"/>
          </a:xfrm>
          <a:prstGeom prst="roundRect">
            <a:avLst>
              <a:gd name="adj" fmla="val 1098"/>
            </a:avLst>
          </a:prstGeom>
          <a:solidFill>
            <a:srgbClr val="3B3C3E"/>
          </a:solidFill>
          <a:ln/>
        </p:spPr>
      </p:sp>
      <p:sp>
        <p:nvSpPr>
          <p:cNvPr id="21" name="Shape 16"/>
          <p:cNvSpPr/>
          <p:nvPr/>
        </p:nvSpPr>
        <p:spPr>
          <a:xfrm>
            <a:off x="6438067" y="5597485"/>
            <a:ext cx="475893" cy="475893"/>
          </a:xfrm>
          <a:prstGeom prst="roundRect">
            <a:avLst>
              <a:gd name="adj" fmla="val 19212482"/>
            </a:avLst>
          </a:prstGeom>
          <a:solidFill>
            <a:srgbClr val="9FA582"/>
          </a:solidFill>
          <a:ln/>
        </p:spPr>
      </p:sp>
      <p:pic>
        <p:nvPicPr>
          <p:cNvPr id="2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68916" y="5728335"/>
            <a:ext cx="214074" cy="214074"/>
          </a:xfrm>
          <a:prstGeom prst="rect">
            <a:avLst/>
          </a:prstGeom>
        </p:spPr>
      </p:pic>
      <p:sp>
        <p:nvSpPr>
          <p:cNvPr id="23" name="Text 17"/>
          <p:cNvSpPr/>
          <p:nvPr/>
        </p:nvSpPr>
        <p:spPr>
          <a:xfrm>
            <a:off x="6438067" y="6231969"/>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Future Directions</a:t>
            </a:r>
            <a:endParaRPr lang="en-US" sz="1550" dirty="0"/>
          </a:p>
        </p:txBody>
      </p:sp>
      <p:sp>
        <p:nvSpPr>
          <p:cNvPr id="24" name="Text 18"/>
          <p:cNvSpPr/>
          <p:nvPr/>
        </p:nvSpPr>
        <p:spPr>
          <a:xfrm>
            <a:off x="6438067" y="6574869"/>
            <a:ext cx="7240667" cy="2537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Develop a dedicated mobile app using TFLite for offline Android/iOS functionality.</a:t>
            </a:r>
            <a:endParaRPr lang="en-US" sz="1200" dirty="0"/>
          </a:p>
        </p:txBody>
      </p:sp>
      <p:sp>
        <p:nvSpPr>
          <p:cNvPr id="25" name="Text 19"/>
          <p:cNvSpPr/>
          <p:nvPr/>
        </p:nvSpPr>
        <p:spPr>
          <a:xfrm>
            <a:off x="6438067" y="6884075"/>
            <a:ext cx="7240667" cy="2537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Integrate Edge AI with Raspberry Pi for drone-based field monitoring.</a:t>
            </a:r>
            <a:endParaRPr lang="en-US" sz="1200" dirty="0"/>
          </a:p>
        </p:txBody>
      </p:sp>
      <p:sp>
        <p:nvSpPr>
          <p:cNvPr id="26" name="Text 20"/>
          <p:cNvSpPr/>
          <p:nvPr/>
        </p:nvSpPr>
        <p:spPr>
          <a:xfrm>
            <a:off x="6438067" y="7193280"/>
            <a:ext cx="7240667" cy="2537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C2C4B5"/>
                </a:solidFill>
                <a:latin typeface="Bitter" pitchFamily="34" charset="0"/>
                <a:ea typeface="Bitter" pitchFamily="34" charset="-122"/>
                <a:cs typeface="Bitter" pitchFamily="34" charset="-120"/>
              </a:rPr>
              <a:t>Expand the dataset with real-world field images for greater robustness.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23806"/>
            <a:ext cx="7872055" cy="531614"/>
          </a:xfrm>
          <a:prstGeom prst="rect">
            <a:avLst/>
          </a:prstGeom>
          <a:noFill/>
          <a:ln/>
        </p:spPr>
        <p:txBody>
          <a:bodyPr wrap="none" lIns="0" tIns="0" rIns="0" bIns="0" rtlCol="0" anchor="t"/>
          <a:lstStyle/>
          <a:p>
            <a:pPr marL="0" indent="0" algn="l">
              <a:lnSpc>
                <a:spcPts val="4150"/>
              </a:lnSpc>
              <a:buNone/>
            </a:pPr>
            <a:r>
              <a:rPr lang="en-US" sz="3300" b="1" dirty="0">
                <a:solidFill>
                  <a:srgbClr val="E1E5CD"/>
                </a:solidFill>
                <a:latin typeface="Outfit Bold" pitchFamily="34" charset="0"/>
                <a:ea typeface="Outfit Bold" pitchFamily="34" charset="-122"/>
                <a:cs typeface="Outfit Bold" pitchFamily="34" charset="-120"/>
              </a:rPr>
              <a:t>Team Contributions &amp; Acknowledgments</a:t>
            </a:r>
            <a:endParaRPr lang="en-US" sz="3300" dirty="0"/>
          </a:p>
        </p:txBody>
      </p:sp>
      <p:sp>
        <p:nvSpPr>
          <p:cNvPr id="3" name="Text 1"/>
          <p:cNvSpPr/>
          <p:nvPr/>
        </p:nvSpPr>
        <p:spPr>
          <a:xfrm>
            <a:off x="793790" y="1795582"/>
            <a:ext cx="13042821" cy="272177"/>
          </a:xfrm>
          <a:prstGeom prst="rect">
            <a:avLst/>
          </a:prstGeom>
          <a:noFill/>
          <a:ln/>
        </p:spPr>
        <p:txBody>
          <a:bodyPr wrap="non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This project was a collaborative effort, combining diverse expertise to achieve our goals. We extend our gratitude to the platforms and tools that made this possible.</a:t>
            </a:r>
            <a:endParaRPr lang="en-US" sz="1300" dirty="0"/>
          </a:p>
        </p:txBody>
      </p:sp>
      <p:sp>
        <p:nvSpPr>
          <p:cNvPr id="4" name="Shape 2"/>
          <p:cNvSpPr/>
          <p:nvPr/>
        </p:nvSpPr>
        <p:spPr>
          <a:xfrm>
            <a:off x="793790" y="2259092"/>
            <a:ext cx="13042821" cy="1025723"/>
          </a:xfrm>
          <a:prstGeom prst="roundRect">
            <a:avLst>
              <a:gd name="adj" fmla="val 2488"/>
            </a:avLst>
          </a:prstGeom>
          <a:solidFill>
            <a:srgbClr val="1C1D1F"/>
          </a:solidFill>
          <a:ln w="22860">
            <a:solidFill>
              <a:srgbClr val="545557"/>
            </a:solidFill>
            <a:prstDash val="solid"/>
          </a:ln>
        </p:spPr>
      </p:sp>
      <p:sp>
        <p:nvSpPr>
          <p:cNvPr id="5" name="Shape 3"/>
          <p:cNvSpPr/>
          <p:nvPr/>
        </p:nvSpPr>
        <p:spPr>
          <a:xfrm>
            <a:off x="816650" y="2281952"/>
            <a:ext cx="680442" cy="980003"/>
          </a:xfrm>
          <a:prstGeom prst="rect">
            <a:avLst/>
          </a:prstGeom>
          <a:solidFill>
            <a:srgbClr val="3B3C3E"/>
          </a:solidFill>
          <a:ln/>
        </p:spPr>
      </p:sp>
      <p:sp>
        <p:nvSpPr>
          <p:cNvPr id="6" name="Text 4"/>
          <p:cNvSpPr/>
          <p:nvPr/>
        </p:nvSpPr>
        <p:spPr>
          <a:xfrm>
            <a:off x="1667113" y="245197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Pratham Rajesh</a:t>
            </a:r>
            <a:endParaRPr lang="en-US" sz="1650" dirty="0"/>
          </a:p>
        </p:txBody>
      </p:sp>
      <p:sp>
        <p:nvSpPr>
          <p:cNvPr id="7" name="Text 5"/>
          <p:cNvSpPr/>
          <p:nvPr/>
        </p:nvSpPr>
        <p:spPr>
          <a:xfrm>
            <a:off x="1667113" y="2819757"/>
            <a:ext cx="11976616" cy="272177"/>
          </a:xfrm>
          <a:prstGeom prst="rect">
            <a:avLst/>
          </a:prstGeom>
          <a:noFill/>
          <a:ln/>
        </p:spPr>
        <p:txBody>
          <a:bodyPr wrap="none" lIns="0" tIns="0" rIns="0" bIns="0" rtlCol="0" anchor="t"/>
          <a:lstStyle/>
          <a:p>
            <a:pPr marL="0" indent="0" algn="l">
              <a:lnSpc>
                <a:spcPts val="2100"/>
              </a:lnSpc>
              <a:buNone/>
            </a:pPr>
            <a:endParaRPr lang="en-US" sz="1300" dirty="0"/>
          </a:p>
        </p:txBody>
      </p:sp>
      <p:sp>
        <p:nvSpPr>
          <p:cNvPr id="8" name="Shape 6"/>
          <p:cNvSpPr/>
          <p:nvPr/>
        </p:nvSpPr>
        <p:spPr>
          <a:xfrm>
            <a:off x="793790" y="3454837"/>
            <a:ext cx="13042821" cy="1025723"/>
          </a:xfrm>
          <a:prstGeom prst="roundRect">
            <a:avLst>
              <a:gd name="adj" fmla="val 2488"/>
            </a:avLst>
          </a:prstGeom>
          <a:solidFill>
            <a:srgbClr val="1C1D1F"/>
          </a:solidFill>
          <a:ln w="22860">
            <a:solidFill>
              <a:srgbClr val="545557"/>
            </a:solidFill>
            <a:prstDash val="solid"/>
          </a:ln>
        </p:spPr>
      </p:sp>
      <p:sp>
        <p:nvSpPr>
          <p:cNvPr id="9" name="Shape 7"/>
          <p:cNvSpPr/>
          <p:nvPr/>
        </p:nvSpPr>
        <p:spPr>
          <a:xfrm>
            <a:off x="816650" y="3477697"/>
            <a:ext cx="680442" cy="980003"/>
          </a:xfrm>
          <a:prstGeom prst="rect">
            <a:avLst/>
          </a:prstGeom>
          <a:solidFill>
            <a:srgbClr val="3B3C3E"/>
          </a:solidFill>
          <a:ln/>
        </p:spPr>
      </p:sp>
      <p:sp>
        <p:nvSpPr>
          <p:cNvPr id="10" name="Text 8"/>
          <p:cNvSpPr/>
          <p:nvPr/>
        </p:nvSpPr>
        <p:spPr>
          <a:xfrm>
            <a:off x="1667113" y="3647718"/>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C2C4B5"/>
                </a:solidFill>
                <a:latin typeface="Outfit Bold" pitchFamily="34" charset="0"/>
                <a:ea typeface="Outfit Bold" pitchFamily="34" charset="-122"/>
                <a:cs typeface="Outfit Bold" pitchFamily="34" charset="-120"/>
              </a:rPr>
              <a:t>Shreram Palanisamy</a:t>
            </a:r>
            <a:endParaRPr lang="en-US" sz="1650" dirty="0"/>
          </a:p>
        </p:txBody>
      </p:sp>
      <p:sp>
        <p:nvSpPr>
          <p:cNvPr id="11" name="Text 9"/>
          <p:cNvSpPr/>
          <p:nvPr/>
        </p:nvSpPr>
        <p:spPr>
          <a:xfrm>
            <a:off x="1667113" y="4015502"/>
            <a:ext cx="11976616" cy="272177"/>
          </a:xfrm>
          <a:prstGeom prst="rect">
            <a:avLst/>
          </a:prstGeom>
          <a:noFill/>
          <a:ln/>
        </p:spPr>
        <p:txBody>
          <a:bodyPr wrap="none" lIns="0" tIns="0" rIns="0" bIns="0" rtlCol="0" anchor="t"/>
          <a:lstStyle/>
          <a:p>
            <a:pPr marL="0" indent="0" algn="l">
              <a:lnSpc>
                <a:spcPts val="2100"/>
              </a:lnSpc>
              <a:buNone/>
            </a:pPr>
            <a:endParaRPr lang="en-US" sz="1300" dirty="0"/>
          </a:p>
        </p:txBody>
      </p:sp>
      <p:sp>
        <p:nvSpPr>
          <p:cNvPr id="12" name="Shape 10"/>
          <p:cNvSpPr/>
          <p:nvPr/>
        </p:nvSpPr>
        <p:spPr>
          <a:xfrm>
            <a:off x="793790" y="4756929"/>
            <a:ext cx="13042821" cy="28813"/>
          </a:xfrm>
          <a:prstGeom prst="rect">
            <a:avLst/>
          </a:prstGeom>
          <a:solidFill>
            <a:srgbClr val="C2C4B5">
              <a:alpha val="50000"/>
            </a:srgbClr>
          </a:solidFill>
          <a:ln/>
        </p:spPr>
      </p:sp>
      <p:sp>
        <p:nvSpPr>
          <p:cNvPr id="13" name="Text 11"/>
          <p:cNvSpPr/>
          <p:nvPr/>
        </p:nvSpPr>
        <p:spPr>
          <a:xfrm>
            <a:off x="793790" y="5040868"/>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E1E5CD"/>
                </a:solidFill>
                <a:latin typeface="Outfit Bold" pitchFamily="34" charset="0"/>
                <a:ea typeface="Outfit Bold" pitchFamily="34" charset="-122"/>
                <a:cs typeface="Outfit Bold" pitchFamily="34" charset="-120"/>
              </a:rPr>
              <a:t>Resources &amp; Tools</a:t>
            </a:r>
            <a:endParaRPr lang="en-US" sz="2000" dirty="0"/>
          </a:p>
        </p:txBody>
      </p:sp>
      <p:sp>
        <p:nvSpPr>
          <p:cNvPr id="14" name="Text 12"/>
          <p:cNvSpPr/>
          <p:nvPr/>
        </p:nvSpPr>
        <p:spPr>
          <a:xfrm>
            <a:off x="793790" y="5614868"/>
            <a:ext cx="13042821" cy="544354"/>
          </a:xfrm>
          <a:prstGeom prst="rect">
            <a:avLst/>
          </a:prstGeom>
          <a:noFill/>
          <a:ln/>
        </p:spPr>
        <p:txBody>
          <a:bodyPr wrap="square" lIns="0" tIns="0" rIns="0" bIns="0" rtlCol="0" anchor="t"/>
          <a:lstStyle/>
          <a:p>
            <a:pPr marL="0" indent="0" algn="l">
              <a:lnSpc>
                <a:spcPts val="2100"/>
              </a:lnSpc>
              <a:buNone/>
            </a:pPr>
            <a:r>
              <a:rPr lang="en-US" sz="1300" dirty="0">
                <a:solidFill>
                  <a:srgbClr val="C2C4B5"/>
                </a:solidFill>
                <a:latin typeface="Bitter" pitchFamily="34" charset="0"/>
                <a:ea typeface="Bitter" pitchFamily="34" charset="-122"/>
                <a:cs typeface="Bitter" pitchFamily="34" charset="-120"/>
              </a:rPr>
              <a:t>Our project leveraged the PlantVillage dataset for training, with TensorFlow, Gradio, and Groq forming our core framework. Development was primarily conducted on Google Colab using T4 GPUs.</a:t>
            </a:r>
            <a:endParaRPr lang="en-US" sz="1300" dirty="0"/>
          </a:p>
        </p:txBody>
      </p:sp>
      <p:pic>
        <p:nvPicPr>
          <p:cNvPr id="15" name="Image 0" descr="preencoded.png"/>
          <p:cNvPicPr>
            <a:picLocks noChangeAspect="1"/>
          </p:cNvPicPr>
          <p:nvPr/>
        </p:nvPicPr>
        <p:blipFill>
          <a:blip r:embed="rId3"/>
          <a:stretch>
            <a:fillRect/>
          </a:stretch>
        </p:blipFill>
        <p:spPr>
          <a:xfrm>
            <a:off x="4326850" y="6461998"/>
            <a:ext cx="1086445" cy="680442"/>
          </a:xfrm>
          <a:prstGeom prst="rect">
            <a:avLst/>
          </a:prstGeom>
        </p:spPr>
      </p:pic>
      <p:pic>
        <p:nvPicPr>
          <p:cNvPr id="16" name="Image 1" descr="preencoded.png"/>
          <p:cNvPicPr>
            <a:picLocks noChangeAspect="1"/>
          </p:cNvPicPr>
          <p:nvPr/>
        </p:nvPicPr>
        <p:blipFill>
          <a:blip r:embed="rId4"/>
          <a:stretch>
            <a:fillRect/>
          </a:stretch>
        </p:blipFill>
        <p:spPr>
          <a:xfrm>
            <a:off x="5549384" y="6461998"/>
            <a:ext cx="1086445" cy="680442"/>
          </a:xfrm>
          <a:prstGeom prst="rect">
            <a:avLst/>
          </a:prstGeom>
        </p:spPr>
      </p:pic>
      <p:pic>
        <p:nvPicPr>
          <p:cNvPr id="17" name="Image 2" descr="preencoded.png"/>
          <p:cNvPicPr>
            <a:picLocks noChangeAspect="1"/>
          </p:cNvPicPr>
          <p:nvPr/>
        </p:nvPicPr>
        <p:blipFill>
          <a:blip r:embed="rId5"/>
          <a:stretch>
            <a:fillRect/>
          </a:stretch>
        </p:blipFill>
        <p:spPr>
          <a:xfrm>
            <a:off x="6771918" y="6461998"/>
            <a:ext cx="1086445" cy="680442"/>
          </a:xfrm>
          <a:prstGeom prst="rect">
            <a:avLst/>
          </a:prstGeom>
        </p:spPr>
      </p:pic>
      <p:pic>
        <p:nvPicPr>
          <p:cNvPr id="18" name="Image 3" descr="preencoded.png"/>
          <p:cNvPicPr>
            <a:picLocks noChangeAspect="1"/>
          </p:cNvPicPr>
          <p:nvPr/>
        </p:nvPicPr>
        <p:blipFill>
          <a:blip r:embed="rId6"/>
          <a:stretch>
            <a:fillRect/>
          </a:stretch>
        </p:blipFill>
        <p:spPr>
          <a:xfrm>
            <a:off x="7994452" y="6461998"/>
            <a:ext cx="1086445" cy="680442"/>
          </a:xfrm>
          <a:prstGeom prst="rect">
            <a:avLst/>
          </a:prstGeom>
        </p:spPr>
      </p:pic>
      <p:pic>
        <p:nvPicPr>
          <p:cNvPr id="19" name="Image 4" descr="preencoded.png"/>
          <p:cNvPicPr>
            <a:picLocks noChangeAspect="1"/>
          </p:cNvPicPr>
          <p:nvPr/>
        </p:nvPicPr>
        <p:blipFill>
          <a:blip r:embed="rId7"/>
          <a:stretch>
            <a:fillRect/>
          </a:stretch>
        </p:blipFill>
        <p:spPr>
          <a:xfrm>
            <a:off x="9216985" y="6461998"/>
            <a:ext cx="1086445" cy="6804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056442"/>
            <a:ext cx="7556421" cy="4252913"/>
          </a:xfrm>
          <a:prstGeom prst="rect">
            <a:avLst/>
          </a:prstGeom>
          <a:noFill/>
          <a:ln/>
        </p:spPr>
        <p:txBody>
          <a:bodyPr wrap="square" lIns="0" tIns="0" rIns="0" bIns="0" rtlCol="0" anchor="t"/>
          <a:lstStyle/>
          <a:p>
            <a:pPr marL="0" indent="0" algn="l">
              <a:lnSpc>
                <a:spcPts val="16700"/>
              </a:lnSpc>
              <a:buNone/>
            </a:pPr>
            <a:r>
              <a:rPr lang="en-US" sz="13350" b="1" dirty="0">
                <a:solidFill>
                  <a:srgbClr val="E1E5CD"/>
                </a:solidFill>
                <a:latin typeface="Outfit Bold" pitchFamily="34" charset="0"/>
                <a:ea typeface="Outfit Bold" pitchFamily="34" charset="-122"/>
                <a:cs typeface="Outfit Bold" pitchFamily="34" charset="-120"/>
              </a:rPr>
              <a:t>LIVE DEMO</a:t>
            </a:r>
            <a:endParaRPr lang="en-US" sz="13350" dirty="0"/>
          </a:p>
        </p:txBody>
      </p:sp>
      <p:sp>
        <p:nvSpPr>
          <p:cNvPr id="4" name="Text 1"/>
          <p:cNvSpPr/>
          <p:nvPr/>
        </p:nvSpPr>
        <p:spPr>
          <a:xfrm>
            <a:off x="6280190" y="5649516"/>
            <a:ext cx="5628680" cy="58221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Outfit Bold" pitchFamily="34" charset="0"/>
                <a:ea typeface="Outfit Bold" pitchFamily="34" charset="-122"/>
                <a:cs typeface="Outfit Bold" pitchFamily="34" charset="-120"/>
              </a:rPr>
              <a:t>🌿</a:t>
            </a:r>
            <a:r>
              <a:rPr lang="en-US" sz="3550" b="1" dirty="0">
                <a:solidFill>
                  <a:srgbClr val="E1E5CD"/>
                </a:solidFill>
                <a:latin typeface="Outfit Bold" pitchFamily="34" charset="0"/>
                <a:ea typeface="Outfit Bold" pitchFamily="34" charset="-122"/>
                <a:cs typeface="Outfit Bold" pitchFamily="34" charset="-120"/>
              </a:rPr>
              <a:t> Plant Disease Detection</a:t>
            </a:r>
            <a:endParaRPr lang="en-US" sz="3550" dirty="0"/>
          </a:p>
        </p:txBody>
      </p:sp>
      <p:sp>
        <p:nvSpPr>
          <p:cNvPr id="5" name="Text 2"/>
          <p:cNvSpPr/>
          <p:nvPr/>
        </p:nvSpPr>
        <p:spPr>
          <a:xfrm>
            <a:off x="6280190" y="6322457"/>
            <a:ext cx="7556421" cy="850583"/>
          </a:xfrm>
          <a:prstGeom prst="rect">
            <a:avLst/>
          </a:prstGeom>
          <a:noFill/>
          <a:ln/>
        </p:spPr>
        <p:txBody>
          <a:bodyPr wrap="square" lIns="0" tIns="0" rIns="0" bIns="0" rtlCol="0" anchor="t"/>
          <a:lstStyle/>
          <a:p>
            <a:pPr marL="0" indent="0" algn="l">
              <a:lnSpc>
                <a:spcPts val="3300"/>
              </a:lnSpc>
              <a:buNone/>
            </a:pPr>
            <a:r>
              <a:rPr lang="en-US" sz="2650" b="1" dirty="0">
                <a:solidFill>
                  <a:srgbClr val="E1E5CD"/>
                </a:solidFill>
                <a:latin typeface="Outfit Bold" pitchFamily="34" charset="0"/>
                <a:ea typeface="Outfit Bold" pitchFamily="34" charset="-122"/>
                <a:cs typeface="Outfit Bold" pitchFamily="34" charset="-120"/>
              </a:rPr>
              <a:t>Experience real-time AI-powered diagnosis in action</a:t>
            </a:r>
            <a:endParaRPr lang="en-US" sz="2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1795</Words>
  <Application>Microsoft Macintosh PowerPoint</Application>
  <PresentationFormat>Custom</PresentationFormat>
  <Paragraphs>189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Outfit Bold</vt:lpstr>
      <vt:lpstr>Arial</vt:lpstr>
      <vt:lpstr>Bitter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RR CSE 7F PRATHAM R</cp:lastModifiedBy>
  <cp:revision>1</cp:revision>
  <dcterms:created xsi:type="dcterms:W3CDTF">2025-12-08T04:48:44Z</dcterms:created>
  <dcterms:modified xsi:type="dcterms:W3CDTF">2025-12-08T06:19:25Z</dcterms:modified>
</cp:coreProperties>
</file>